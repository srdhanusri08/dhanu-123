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libri (MS) Bold" charset="1" panose="020F0702030404030204"/>
      <p:regular r:id="rId17"/>
    </p:embeddedFont>
    <p:embeddedFont>
      <p:font typeface="Calibri (MS)" charset="1" panose="020F050202020403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71922" y="1501492"/>
            <a:ext cx="11131450" cy="636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3"/>
              </a:lnSpc>
              <a:spcBef>
                <a:spcPct val="0"/>
              </a:spcBef>
            </a:pPr>
            <a:r>
              <a:rPr lang="en-US" b="true" sz="3677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Topic : LegalEase:Al Powered Legal Documents generated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07635" y="3728417"/>
            <a:ext cx="5467573" cy="508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Members:</a:t>
            </a:r>
          </a:p>
          <a:p>
            <a:pPr algn="ctr">
              <a:lnSpc>
                <a:spcPts val="6599"/>
              </a:lnSpc>
            </a:pPr>
            <a:r>
              <a:rPr lang="en-US" sz="5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1.V.Bharathkannan</a:t>
            </a:r>
          </a:p>
          <a:p>
            <a:pPr algn="ctr">
              <a:lnSpc>
                <a:spcPts val="6599"/>
              </a:lnSpc>
            </a:pPr>
            <a:r>
              <a:rPr lang="en-US" sz="5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2.N. Boopathi</a:t>
            </a:r>
          </a:p>
          <a:p>
            <a:pPr algn="ctr">
              <a:lnSpc>
                <a:spcPts val="6599"/>
              </a:lnSpc>
            </a:pPr>
            <a:r>
              <a:rPr lang="en-US" sz="5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3.R. Boobalan</a:t>
            </a:r>
          </a:p>
          <a:p>
            <a:pPr algn="ctr">
              <a:lnSpc>
                <a:spcPts val="6599"/>
              </a:lnSpc>
            </a:pPr>
            <a:r>
              <a:rPr lang="en-US" sz="54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4.S. Dhanusri</a:t>
            </a:r>
          </a:p>
          <a:p>
            <a:pPr algn="ctr">
              <a:lnSpc>
                <a:spcPts val="659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465231" y="2528232"/>
            <a:ext cx="5940876" cy="712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1"/>
              </a:lnSpc>
              <a:spcBef>
                <a:spcPct val="0"/>
              </a:spcBef>
            </a:pPr>
            <a:r>
              <a:rPr lang="en-US" b="true" sz="4118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Leader :K. Bhavanasri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2030492"/>
            <a:ext cx="9837630" cy="2522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6"/>
              </a:lnSpc>
            </a:pPr>
            <a:r>
              <a:rPr lang="en-US" sz="6605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LegalEase</a:t>
            </a:r>
          </a:p>
          <a:p>
            <a:pPr algn="l">
              <a:lnSpc>
                <a:spcPts val="4143"/>
              </a:lnSpc>
            </a:pPr>
            <a:r>
              <a:rPr lang="en-US" sz="3452">
                <a:solidFill>
                  <a:srgbClr val="366FC4"/>
                </a:solidFill>
                <a:latin typeface="Calibri (MS)"/>
                <a:ea typeface="Calibri (MS)"/>
                <a:cs typeface="Calibri (MS)"/>
                <a:sym typeface="Calibri (MS)"/>
              </a:rPr>
              <a:t>AI-Powered Legal Document Generator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Smart • Simple • Faster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346905" y="2051856"/>
            <a:ext cx="3445983" cy="1386973"/>
            <a:chOff x="0" y="0"/>
            <a:chExt cx="4594644" cy="18492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94606" cy="1849247"/>
            </a:xfrm>
            <a:custGeom>
              <a:avLst/>
              <a:gdLst/>
              <a:ahLst/>
              <a:cxnLst/>
              <a:rect r="r" b="b" t="t" l="l"/>
              <a:pathLst>
                <a:path h="1849247" w="4594606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4286377" y="0"/>
                  </a:lnTo>
                  <a:cubicBezTo>
                    <a:pt x="4456557" y="0"/>
                    <a:pt x="4594606" y="138049"/>
                    <a:pt x="4594606" y="308229"/>
                  </a:cubicBezTo>
                  <a:lnTo>
                    <a:pt x="4594606" y="1541018"/>
                  </a:lnTo>
                  <a:cubicBezTo>
                    <a:pt x="4594606" y="1711198"/>
                    <a:pt x="4456557" y="1849247"/>
                    <a:pt x="4286377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2555303" y="2176443"/>
            <a:ext cx="3029169" cy="109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346905" y="4248131"/>
            <a:ext cx="3445983" cy="1386973"/>
            <a:chOff x="0" y="0"/>
            <a:chExt cx="4594644" cy="1849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94606" cy="1849247"/>
            </a:xfrm>
            <a:custGeom>
              <a:avLst/>
              <a:gdLst/>
              <a:ahLst/>
              <a:cxnLst/>
              <a:rect r="r" b="b" t="t" l="l"/>
              <a:pathLst>
                <a:path h="1849247" w="4594606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4286377" y="0"/>
                  </a:lnTo>
                  <a:cubicBezTo>
                    <a:pt x="4456557" y="0"/>
                    <a:pt x="4594606" y="138049"/>
                    <a:pt x="4594606" y="308229"/>
                  </a:cubicBezTo>
                  <a:lnTo>
                    <a:pt x="4594606" y="1541018"/>
                  </a:lnTo>
                  <a:cubicBezTo>
                    <a:pt x="4594606" y="1711198"/>
                    <a:pt x="4456557" y="1849247"/>
                    <a:pt x="4286377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E8F6F4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2555303" y="4372718"/>
            <a:ext cx="3029169" cy="109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ENGINE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346905" y="6444415"/>
            <a:ext cx="3445983" cy="1386973"/>
            <a:chOff x="0" y="0"/>
            <a:chExt cx="4594644" cy="18492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94606" cy="1849247"/>
            </a:xfrm>
            <a:custGeom>
              <a:avLst/>
              <a:gdLst/>
              <a:ahLst/>
              <a:cxnLst/>
              <a:rect r="r" b="b" t="t" l="l"/>
              <a:pathLst>
                <a:path h="1849247" w="4594606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4286377" y="0"/>
                  </a:lnTo>
                  <a:cubicBezTo>
                    <a:pt x="4456557" y="0"/>
                    <a:pt x="4594606" y="138049"/>
                    <a:pt x="4594606" y="308229"/>
                  </a:cubicBezTo>
                  <a:lnTo>
                    <a:pt x="4594606" y="1541018"/>
                  </a:lnTo>
                  <a:cubicBezTo>
                    <a:pt x="4594606" y="1711198"/>
                    <a:pt x="4456557" y="1849247"/>
                    <a:pt x="4286377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555303" y="6549942"/>
            <a:ext cx="3029169" cy="1118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LEGAL</a:t>
            </a:r>
          </a:p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DOCUMENT</a:t>
            </a:r>
          </a:p>
        </p:txBody>
      </p:sp>
      <p:sp>
        <p:nvSpPr>
          <p:cNvPr name="AutoShape 12" id="12"/>
          <p:cNvSpPr/>
          <p:nvPr/>
        </p:nvSpPr>
        <p:spPr>
          <a:xfrm rot="5247960">
            <a:off x="13638600" y="3833955"/>
            <a:ext cx="862574" cy="0"/>
          </a:xfrm>
          <a:prstGeom prst="line">
            <a:avLst/>
          </a:prstGeom>
          <a:ln cap="rnd" w="19050">
            <a:solidFill>
              <a:srgbClr val="366F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5247960">
            <a:off x="13638600" y="6030230"/>
            <a:ext cx="862574" cy="0"/>
          </a:xfrm>
          <a:prstGeom prst="line">
            <a:avLst/>
          </a:prstGeom>
          <a:ln cap="rnd" w="19050">
            <a:solidFill>
              <a:srgbClr val="366F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6426244" y="9694488"/>
            <a:ext cx="640728" cy="21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6411" y="344348"/>
            <a:ext cx="12033904" cy="749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7587" y="1188120"/>
            <a:ext cx="13269306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Why LegalEase?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3719" y="2120494"/>
            <a:ext cx="7701267" cy="1867405"/>
            <a:chOff x="0" y="0"/>
            <a:chExt cx="10268356" cy="24898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68458" cy="2489962"/>
            </a:xfrm>
            <a:custGeom>
              <a:avLst/>
              <a:gdLst/>
              <a:ahLst/>
              <a:cxnLst/>
              <a:rect r="r" b="b" t="t" l="l"/>
              <a:pathLst>
                <a:path h="2489962" w="10268458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9853422" y="0"/>
                  </a:lnTo>
                  <a:cubicBezTo>
                    <a:pt x="10082657" y="0"/>
                    <a:pt x="10268458" y="185801"/>
                    <a:pt x="10268458" y="415036"/>
                  </a:cubicBezTo>
                  <a:lnTo>
                    <a:pt x="10268458" y="2074926"/>
                  </a:lnTo>
                  <a:cubicBezTo>
                    <a:pt x="10268458" y="2304161"/>
                    <a:pt x="10082657" y="2489962"/>
                    <a:pt x="985342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60872" y="2127647"/>
            <a:ext cx="109814" cy="1853108"/>
            <a:chOff x="0" y="0"/>
            <a:chExt cx="146418" cy="24708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31" cy="2470785"/>
            </a:xfrm>
            <a:custGeom>
              <a:avLst/>
              <a:gdLst/>
              <a:ahLst/>
              <a:cxnLst/>
              <a:rect r="r" b="b" t="t" l="l"/>
              <a:pathLst>
                <a:path h="2470785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95479" y="2335844"/>
            <a:ext cx="6886384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Legal documents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95479" y="2986316"/>
            <a:ext cx="6886384" cy="77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Contracts, agreements, notices and other documents are important in everyday and business activities.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53719" y="4316768"/>
            <a:ext cx="7701267" cy="1867405"/>
            <a:chOff x="0" y="0"/>
            <a:chExt cx="10268356" cy="24898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68458" cy="2489962"/>
            </a:xfrm>
            <a:custGeom>
              <a:avLst/>
              <a:gdLst/>
              <a:ahLst/>
              <a:cxnLst/>
              <a:rect r="r" b="b" t="t" l="l"/>
              <a:pathLst>
                <a:path h="2489962" w="10268458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9853422" y="0"/>
                  </a:lnTo>
                  <a:cubicBezTo>
                    <a:pt x="10082657" y="0"/>
                    <a:pt x="10268458" y="185801"/>
                    <a:pt x="10268458" y="415036"/>
                  </a:cubicBezTo>
                  <a:lnTo>
                    <a:pt x="10268458" y="2074926"/>
                  </a:lnTo>
                  <a:cubicBezTo>
                    <a:pt x="10268458" y="2304161"/>
                    <a:pt x="10082657" y="2489962"/>
                    <a:pt x="985342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60872" y="4323921"/>
            <a:ext cx="109814" cy="1853108"/>
            <a:chOff x="0" y="0"/>
            <a:chExt cx="146418" cy="24708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431" cy="2470785"/>
            </a:xfrm>
            <a:custGeom>
              <a:avLst/>
              <a:gdLst/>
              <a:ahLst/>
              <a:cxnLst/>
              <a:rect r="r" b="b" t="t" l="l"/>
              <a:pathLst>
                <a:path h="2470785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95479" y="4532119"/>
            <a:ext cx="6886384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challenge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95479" y="5182591"/>
            <a:ext cx="6886384" cy="77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drafting can take time, and legal language may be difficult for non-experts.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601562" y="2120494"/>
            <a:ext cx="7701267" cy="1867405"/>
            <a:chOff x="0" y="0"/>
            <a:chExt cx="10268356" cy="248987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68458" cy="2489962"/>
            </a:xfrm>
            <a:custGeom>
              <a:avLst/>
              <a:gdLst/>
              <a:ahLst/>
              <a:cxnLst/>
              <a:rect r="r" b="b" t="t" l="l"/>
              <a:pathLst>
                <a:path h="2489962" w="10268458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9853422" y="0"/>
                  </a:lnTo>
                  <a:cubicBezTo>
                    <a:pt x="10082657" y="0"/>
                    <a:pt x="10268458" y="185801"/>
                    <a:pt x="10268458" y="415036"/>
                  </a:cubicBezTo>
                  <a:lnTo>
                    <a:pt x="10268458" y="2074926"/>
                  </a:lnTo>
                  <a:cubicBezTo>
                    <a:pt x="10268458" y="2304161"/>
                    <a:pt x="10082657" y="2489962"/>
                    <a:pt x="985342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608706" y="2127647"/>
            <a:ext cx="109814" cy="1853108"/>
            <a:chOff x="0" y="0"/>
            <a:chExt cx="146418" cy="24708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431" cy="2470785"/>
            </a:xfrm>
            <a:custGeom>
              <a:avLst/>
              <a:gdLst/>
              <a:ahLst/>
              <a:cxnLst/>
              <a:rect r="r" b="b" t="t" l="l"/>
              <a:pathLst>
                <a:path h="2470785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043312" y="2335844"/>
            <a:ext cx="6886384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idea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43312" y="2986316"/>
            <a:ext cx="6886384" cy="77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LegalEase uses AI to convert user-provided information into a structured document draft.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601562" y="4316768"/>
            <a:ext cx="7701267" cy="1867405"/>
            <a:chOff x="0" y="0"/>
            <a:chExt cx="10268356" cy="24898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68458" cy="2489962"/>
            </a:xfrm>
            <a:custGeom>
              <a:avLst/>
              <a:gdLst/>
              <a:ahLst/>
              <a:cxnLst/>
              <a:rect r="r" b="b" t="t" l="l"/>
              <a:pathLst>
                <a:path h="2489962" w="10268458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9853422" y="0"/>
                  </a:lnTo>
                  <a:cubicBezTo>
                    <a:pt x="10082657" y="0"/>
                    <a:pt x="10268458" y="185801"/>
                    <a:pt x="10268458" y="415036"/>
                  </a:cubicBezTo>
                  <a:lnTo>
                    <a:pt x="10268458" y="2074926"/>
                  </a:lnTo>
                  <a:cubicBezTo>
                    <a:pt x="10268458" y="2304161"/>
                    <a:pt x="10082657" y="2489962"/>
                    <a:pt x="985342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608706" y="4323921"/>
            <a:ext cx="109814" cy="1853108"/>
            <a:chOff x="0" y="0"/>
            <a:chExt cx="146418" cy="24708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31" cy="2470785"/>
            </a:xfrm>
            <a:custGeom>
              <a:avLst/>
              <a:gdLst/>
              <a:ahLst/>
              <a:cxnLst/>
              <a:rect r="r" b="b" t="t" l="l"/>
              <a:pathLst>
                <a:path h="2470785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043312" y="4532119"/>
            <a:ext cx="6886384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43312" y="5182591"/>
            <a:ext cx="6886384" cy="77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Make basic document drafting faster, clearer and easier to access.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5758072" y="7336650"/>
            <a:ext cx="6603130" cy="1112434"/>
            <a:chOff x="0" y="0"/>
            <a:chExt cx="8804173" cy="148324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804275" cy="1483360"/>
            </a:xfrm>
            <a:custGeom>
              <a:avLst/>
              <a:gdLst/>
              <a:ahLst/>
              <a:cxnLst/>
              <a:rect r="r" b="b" t="t" l="l"/>
              <a:pathLst>
                <a:path h="1483360" w="8804275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8557006" y="0"/>
                  </a:lnTo>
                  <a:cubicBezTo>
                    <a:pt x="8693531" y="0"/>
                    <a:pt x="8804275" y="110744"/>
                    <a:pt x="8804275" y="247269"/>
                  </a:cubicBezTo>
                  <a:lnTo>
                    <a:pt x="8804275" y="1236091"/>
                  </a:lnTo>
                  <a:cubicBezTo>
                    <a:pt x="8804275" y="1372616"/>
                    <a:pt x="8693531" y="1483360"/>
                    <a:pt x="8557006" y="1483360"/>
                  </a:cubicBezTo>
                  <a:lnTo>
                    <a:pt x="247269" y="1483360"/>
                  </a:lnTo>
                  <a:cubicBezTo>
                    <a:pt x="110744" y="1483233"/>
                    <a:pt x="0" y="1372616"/>
                    <a:pt x="0" y="1236091"/>
                  </a:cubicBezTo>
                  <a:close/>
                </a:path>
              </a:pathLst>
            </a:custGeom>
            <a:solidFill>
              <a:srgbClr val="E8F6F4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5966479" y="7442178"/>
            <a:ext cx="6186316" cy="844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INPUT  →  AI  →  DOCUMENT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426244" y="9694488"/>
            <a:ext cx="640728" cy="21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6411" y="344348"/>
            <a:ext cx="12033904" cy="749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7587" y="1188120"/>
            <a:ext cx="13269306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Limitations of traditional legal document preparation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3719" y="2051856"/>
            <a:ext cx="7838532" cy="2279209"/>
            <a:chOff x="0" y="0"/>
            <a:chExt cx="10451376" cy="30389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51338" cy="3038856"/>
            </a:xfrm>
            <a:custGeom>
              <a:avLst/>
              <a:gdLst/>
              <a:ahLst/>
              <a:cxnLst/>
              <a:rect r="r" b="b" t="t" l="l"/>
              <a:pathLst>
                <a:path h="3038856" w="10451338">
                  <a:moveTo>
                    <a:pt x="0" y="506476"/>
                  </a:moveTo>
                  <a:cubicBezTo>
                    <a:pt x="0" y="226822"/>
                    <a:pt x="226822" y="0"/>
                    <a:pt x="506476" y="0"/>
                  </a:cubicBezTo>
                  <a:lnTo>
                    <a:pt x="9944862" y="0"/>
                  </a:lnTo>
                  <a:cubicBezTo>
                    <a:pt x="10224643" y="0"/>
                    <a:pt x="10451338" y="226822"/>
                    <a:pt x="10451338" y="506476"/>
                  </a:cubicBezTo>
                  <a:lnTo>
                    <a:pt x="10451338" y="2532380"/>
                  </a:lnTo>
                  <a:cubicBezTo>
                    <a:pt x="10451338" y="2812161"/>
                    <a:pt x="10224516" y="3038856"/>
                    <a:pt x="9944862" y="3038856"/>
                  </a:cubicBezTo>
                  <a:lnTo>
                    <a:pt x="506476" y="3038856"/>
                  </a:lnTo>
                  <a:cubicBezTo>
                    <a:pt x="226822" y="3038983"/>
                    <a:pt x="0" y="2812161"/>
                    <a:pt x="0" y="25323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60872" y="2059010"/>
            <a:ext cx="109814" cy="2264912"/>
            <a:chOff x="0" y="0"/>
            <a:chExt cx="146418" cy="30198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31" cy="3019933"/>
            </a:xfrm>
            <a:custGeom>
              <a:avLst/>
              <a:gdLst/>
              <a:ahLst/>
              <a:cxnLst/>
              <a:rect r="r" b="b" t="t" l="l"/>
              <a:pathLst>
                <a:path h="3019933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019933"/>
                  </a:lnTo>
                  <a:lnTo>
                    <a:pt x="0" y="3019933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95479" y="2267207"/>
            <a:ext cx="7023649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95479" y="2917688"/>
            <a:ext cx="7023649" cy="1182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drafting is repetitive.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532925" y="2051856"/>
            <a:ext cx="7838532" cy="2279209"/>
            <a:chOff x="0" y="0"/>
            <a:chExt cx="10451376" cy="30389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51338" cy="3038856"/>
            </a:xfrm>
            <a:custGeom>
              <a:avLst/>
              <a:gdLst/>
              <a:ahLst/>
              <a:cxnLst/>
              <a:rect r="r" b="b" t="t" l="l"/>
              <a:pathLst>
                <a:path h="3038856" w="10451338">
                  <a:moveTo>
                    <a:pt x="0" y="506476"/>
                  </a:moveTo>
                  <a:cubicBezTo>
                    <a:pt x="0" y="226822"/>
                    <a:pt x="226822" y="0"/>
                    <a:pt x="506476" y="0"/>
                  </a:cubicBezTo>
                  <a:lnTo>
                    <a:pt x="9944862" y="0"/>
                  </a:lnTo>
                  <a:cubicBezTo>
                    <a:pt x="10224643" y="0"/>
                    <a:pt x="10451338" y="226822"/>
                    <a:pt x="10451338" y="506476"/>
                  </a:cubicBezTo>
                  <a:lnTo>
                    <a:pt x="10451338" y="2532380"/>
                  </a:lnTo>
                  <a:cubicBezTo>
                    <a:pt x="10451338" y="2812161"/>
                    <a:pt x="10224516" y="3038856"/>
                    <a:pt x="9944862" y="3038856"/>
                  </a:cubicBezTo>
                  <a:lnTo>
                    <a:pt x="506476" y="3038856"/>
                  </a:lnTo>
                  <a:cubicBezTo>
                    <a:pt x="226822" y="3038983"/>
                    <a:pt x="0" y="2812161"/>
                    <a:pt x="0" y="25323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540069" y="2059010"/>
            <a:ext cx="109814" cy="2264912"/>
            <a:chOff x="0" y="0"/>
            <a:chExt cx="146418" cy="30198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431" cy="3019933"/>
            </a:xfrm>
            <a:custGeom>
              <a:avLst/>
              <a:gdLst/>
              <a:ahLst/>
              <a:cxnLst/>
              <a:rect r="r" b="b" t="t" l="l"/>
              <a:pathLst>
                <a:path h="3019933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019933"/>
                  </a:lnTo>
                  <a:lnTo>
                    <a:pt x="0" y="3019933"/>
                  </a:lnTo>
                  <a:close/>
                </a:path>
              </a:pathLst>
            </a:custGeom>
            <a:solidFill>
              <a:srgbClr val="269D91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974685" y="2267207"/>
            <a:ext cx="7023649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COST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74685" y="2917688"/>
            <a:ext cx="7023649" cy="1182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Professional drafting may be costly.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53719" y="5003102"/>
            <a:ext cx="7838532" cy="2279209"/>
            <a:chOff x="0" y="0"/>
            <a:chExt cx="10451376" cy="30389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51338" cy="3038856"/>
            </a:xfrm>
            <a:custGeom>
              <a:avLst/>
              <a:gdLst/>
              <a:ahLst/>
              <a:cxnLst/>
              <a:rect r="r" b="b" t="t" l="l"/>
              <a:pathLst>
                <a:path h="3038856" w="10451338">
                  <a:moveTo>
                    <a:pt x="0" y="506476"/>
                  </a:moveTo>
                  <a:cubicBezTo>
                    <a:pt x="0" y="226822"/>
                    <a:pt x="226822" y="0"/>
                    <a:pt x="506476" y="0"/>
                  </a:cubicBezTo>
                  <a:lnTo>
                    <a:pt x="9944862" y="0"/>
                  </a:lnTo>
                  <a:cubicBezTo>
                    <a:pt x="10224643" y="0"/>
                    <a:pt x="10451338" y="226822"/>
                    <a:pt x="10451338" y="506476"/>
                  </a:cubicBezTo>
                  <a:lnTo>
                    <a:pt x="10451338" y="2532380"/>
                  </a:lnTo>
                  <a:cubicBezTo>
                    <a:pt x="10451338" y="2812161"/>
                    <a:pt x="10224516" y="3038856"/>
                    <a:pt x="9944862" y="3038856"/>
                  </a:cubicBezTo>
                  <a:lnTo>
                    <a:pt x="506476" y="3038856"/>
                  </a:lnTo>
                  <a:cubicBezTo>
                    <a:pt x="226822" y="3038983"/>
                    <a:pt x="0" y="2812161"/>
                    <a:pt x="0" y="25323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60872" y="5010255"/>
            <a:ext cx="109814" cy="2264912"/>
            <a:chOff x="0" y="0"/>
            <a:chExt cx="146418" cy="30198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431" cy="3019933"/>
            </a:xfrm>
            <a:custGeom>
              <a:avLst/>
              <a:gdLst/>
              <a:ahLst/>
              <a:cxnLst/>
              <a:rect r="r" b="b" t="t" l="l"/>
              <a:pathLst>
                <a:path h="3019933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019933"/>
                  </a:lnTo>
                  <a:lnTo>
                    <a:pt x="0" y="3019933"/>
                  </a:lnTo>
                  <a:close/>
                </a:path>
              </a:pathLst>
            </a:custGeom>
            <a:solidFill>
              <a:srgbClr val="162D4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395479" y="5218452"/>
            <a:ext cx="7023649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COMPLEXITY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95479" y="5868934"/>
            <a:ext cx="7023649" cy="1182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Legal terminology can be difficult.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532925" y="5003102"/>
            <a:ext cx="7838532" cy="2279209"/>
            <a:chOff x="0" y="0"/>
            <a:chExt cx="10451376" cy="303894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51338" cy="3038856"/>
            </a:xfrm>
            <a:custGeom>
              <a:avLst/>
              <a:gdLst/>
              <a:ahLst/>
              <a:cxnLst/>
              <a:rect r="r" b="b" t="t" l="l"/>
              <a:pathLst>
                <a:path h="3038856" w="10451338">
                  <a:moveTo>
                    <a:pt x="0" y="506476"/>
                  </a:moveTo>
                  <a:cubicBezTo>
                    <a:pt x="0" y="226822"/>
                    <a:pt x="226822" y="0"/>
                    <a:pt x="506476" y="0"/>
                  </a:cubicBezTo>
                  <a:lnTo>
                    <a:pt x="9944862" y="0"/>
                  </a:lnTo>
                  <a:cubicBezTo>
                    <a:pt x="10224643" y="0"/>
                    <a:pt x="10451338" y="226822"/>
                    <a:pt x="10451338" y="506476"/>
                  </a:cubicBezTo>
                  <a:lnTo>
                    <a:pt x="10451338" y="2532380"/>
                  </a:lnTo>
                  <a:cubicBezTo>
                    <a:pt x="10451338" y="2812161"/>
                    <a:pt x="10224516" y="3038856"/>
                    <a:pt x="9944862" y="3038856"/>
                  </a:cubicBezTo>
                  <a:lnTo>
                    <a:pt x="506476" y="3038856"/>
                  </a:lnTo>
                  <a:cubicBezTo>
                    <a:pt x="226822" y="3038983"/>
                    <a:pt x="0" y="2812161"/>
                    <a:pt x="0" y="253238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540069" y="5010255"/>
            <a:ext cx="109814" cy="2264912"/>
            <a:chOff x="0" y="0"/>
            <a:chExt cx="146418" cy="301988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31" cy="3019933"/>
            </a:xfrm>
            <a:custGeom>
              <a:avLst/>
              <a:gdLst/>
              <a:ahLst/>
              <a:cxnLst/>
              <a:rect r="r" b="b" t="t" l="l"/>
              <a:pathLst>
                <a:path h="3019933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019933"/>
                  </a:lnTo>
                  <a:lnTo>
                    <a:pt x="0" y="3019933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974685" y="5218452"/>
            <a:ext cx="7023649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ERRORS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74685" y="5868934"/>
            <a:ext cx="7023649" cy="1182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Missing details or formatting mistakes may occur.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4659935" y="8022984"/>
            <a:ext cx="8936669" cy="975170"/>
            <a:chOff x="0" y="0"/>
            <a:chExt cx="11915559" cy="130022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915521" cy="1300226"/>
            </a:xfrm>
            <a:custGeom>
              <a:avLst/>
              <a:gdLst/>
              <a:ahLst/>
              <a:cxnLst/>
              <a:rect r="r" b="b" t="t" l="l"/>
              <a:pathLst>
                <a:path h="1300226" w="11915521">
                  <a:moveTo>
                    <a:pt x="0" y="216662"/>
                  </a:moveTo>
                  <a:cubicBezTo>
                    <a:pt x="0" y="97028"/>
                    <a:pt x="97028" y="0"/>
                    <a:pt x="216662" y="0"/>
                  </a:cubicBezTo>
                  <a:lnTo>
                    <a:pt x="11698859" y="0"/>
                  </a:lnTo>
                  <a:cubicBezTo>
                    <a:pt x="11818493" y="0"/>
                    <a:pt x="11915521" y="97028"/>
                    <a:pt x="11915521" y="216662"/>
                  </a:cubicBezTo>
                  <a:lnTo>
                    <a:pt x="11915521" y="1083564"/>
                  </a:lnTo>
                  <a:cubicBezTo>
                    <a:pt x="11915521" y="1203198"/>
                    <a:pt x="11818493" y="1300226"/>
                    <a:pt x="11698859" y="1300226"/>
                  </a:cubicBezTo>
                  <a:lnTo>
                    <a:pt x="216662" y="1300226"/>
                  </a:lnTo>
                  <a:cubicBezTo>
                    <a:pt x="97028" y="1300226"/>
                    <a:pt x="0" y="1203198"/>
                    <a:pt x="0" y="108356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4868342" y="8138046"/>
            <a:ext cx="8519865" cy="69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NEED: A SIMPLE AI-ASSISTED DRAFTING SYSTEM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426244" y="9694488"/>
            <a:ext cx="640728" cy="21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6411" y="344348"/>
            <a:ext cx="12033904" cy="749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Proposed 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7587" y="1188120"/>
            <a:ext cx="13269306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LegalEase architecture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16454" y="3012729"/>
            <a:ext cx="2896914" cy="1386973"/>
            <a:chOff x="0" y="0"/>
            <a:chExt cx="3862553" cy="18492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62578" cy="1849247"/>
            </a:xfrm>
            <a:custGeom>
              <a:avLst/>
              <a:gdLst/>
              <a:ahLst/>
              <a:cxnLst/>
              <a:rect r="r" b="b" t="t" l="l"/>
              <a:pathLst>
                <a:path h="1849247" w="3862578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554349" y="0"/>
                  </a:lnTo>
                  <a:cubicBezTo>
                    <a:pt x="3724529" y="0"/>
                    <a:pt x="3862578" y="138049"/>
                    <a:pt x="3862578" y="308229"/>
                  </a:cubicBezTo>
                  <a:lnTo>
                    <a:pt x="3862578" y="1541018"/>
                  </a:lnTo>
                  <a:cubicBezTo>
                    <a:pt x="3862578" y="1711198"/>
                    <a:pt x="3724529" y="1849247"/>
                    <a:pt x="355434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24861" y="3137316"/>
            <a:ext cx="2480100" cy="109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454033" y="3012729"/>
            <a:ext cx="3171444" cy="1386973"/>
            <a:chOff x="0" y="0"/>
            <a:chExt cx="4228592" cy="1849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28592" cy="1849247"/>
            </a:xfrm>
            <a:custGeom>
              <a:avLst/>
              <a:gdLst/>
              <a:ahLst/>
              <a:cxnLst/>
              <a:rect r="r" b="b" t="t" l="l"/>
              <a:pathLst>
                <a:path h="1849247" w="4228592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920363" y="0"/>
                  </a:lnTo>
                  <a:cubicBezTo>
                    <a:pt x="4090543" y="0"/>
                    <a:pt x="4228592" y="138049"/>
                    <a:pt x="4228592" y="308229"/>
                  </a:cubicBezTo>
                  <a:lnTo>
                    <a:pt x="4228592" y="1541018"/>
                  </a:lnTo>
                  <a:cubicBezTo>
                    <a:pt x="4228592" y="1711198"/>
                    <a:pt x="4090543" y="1849247"/>
                    <a:pt x="3920363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4662440" y="3118266"/>
            <a:ext cx="2754640" cy="1118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INPUT FORM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434788" y="3012729"/>
            <a:ext cx="3171444" cy="1386973"/>
            <a:chOff x="0" y="0"/>
            <a:chExt cx="4228592" cy="18492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28592" cy="1849247"/>
            </a:xfrm>
            <a:custGeom>
              <a:avLst/>
              <a:gdLst/>
              <a:ahLst/>
              <a:cxnLst/>
              <a:rect r="r" b="b" t="t" l="l"/>
              <a:pathLst>
                <a:path h="1849247" w="4228592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920363" y="0"/>
                  </a:lnTo>
                  <a:cubicBezTo>
                    <a:pt x="4090543" y="0"/>
                    <a:pt x="4228592" y="138049"/>
                    <a:pt x="4228592" y="308229"/>
                  </a:cubicBezTo>
                  <a:lnTo>
                    <a:pt x="4228592" y="1541018"/>
                  </a:lnTo>
                  <a:cubicBezTo>
                    <a:pt x="4228592" y="1711198"/>
                    <a:pt x="4090543" y="1849247"/>
                    <a:pt x="3920363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E8F6F4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8643185" y="3137316"/>
            <a:ext cx="2754640" cy="109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/ NLP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415533" y="3012729"/>
            <a:ext cx="3857777" cy="1386973"/>
            <a:chOff x="0" y="0"/>
            <a:chExt cx="5143703" cy="184929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43754" cy="1849247"/>
            </a:xfrm>
            <a:custGeom>
              <a:avLst/>
              <a:gdLst/>
              <a:ahLst/>
              <a:cxnLst/>
              <a:rect r="r" b="b" t="t" l="l"/>
              <a:pathLst>
                <a:path h="1849247" w="5143754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4835525" y="0"/>
                  </a:lnTo>
                  <a:cubicBezTo>
                    <a:pt x="5005705" y="0"/>
                    <a:pt x="5143754" y="138049"/>
                    <a:pt x="5143754" y="308229"/>
                  </a:cubicBezTo>
                  <a:lnTo>
                    <a:pt x="5143754" y="1541018"/>
                  </a:lnTo>
                  <a:cubicBezTo>
                    <a:pt x="5143754" y="1711198"/>
                    <a:pt x="5005705" y="1849247"/>
                    <a:pt x="4835525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2623940" y="3118266"/>
            <a:ext cx="3440973" cy="1118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DOCUMENT</a:t>
            </a:r>
          </a:p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GENERATOR</a:t>
            </a:r>
          </a:p>
        </p:txBody>
      </p:sp>
      <p:sp>
        <p:nvSpPr>
          <p:cNvPr name="AutoShape 16" id="16"/>
          <p:cNvSpPr/>
          <p:nvPr/>
        </p:nvSpPr>
        <p:spPr>
          <a:xfrm rot="165120">
            <a:off x="3686689" y="3696691"/>
            <a:ext cx="794014" cy="0"/>
          </a:xfrm>
          <a:prstGeom prst="line">
            <a:avLst/>
          </a:prstGeom>
          <a:ln cap="rnd" w="19050">
            <a:solidFill>
              <a:srgbClr val="366F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152040">
            <a:off x="7598845" y="3696691"/>
            <a:ext cx="862574" cy="0"/>
          </a:xfrm>
          <a:prstGeom prst="line">
            <a:avLst/>
          </a:prstGeom>
          <a:ln cap="rnd" w="19050">
            <a:solidFill>
              <a:srgbClr val="366F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152040">
            <a:off x="11579590" y="3696691"/>
            <a:ext cx="862574" cy="0"/>
          </a:xfrm>
          <a:prstGeom prst="line">
            <a:avLst/>
          </a:prstGeom>
          <a:ln cap="rnd" w="19050">
            <a:solidFill>
              <a:srgbClr val="366FC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5620807" y="5963974"/>
            <a:ext cx="7152199" cy="1386973"/>
            <a:chOff x="0" y="0"/>
            <a:chExt cx="9536265" cy="184929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536303" cy="1849247"/>
            </a:xfrm>
            <a:custGeom>
              <a:avLst/>
              <a:gdLst/>
              <a:ahLst/>
              <a:cxnLst/>
              <a:rect r="r" b="b" t="t" l="l"/>
              <a:pathLst>
                <a:path h="1849247" w="9536303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9228074" y="0"/>
                  </a:lnTo>
                  <a:cubicBezTo>
                    <a:pt x="9398254" y="0"/>
                    <a:pt x="9536303" y="138049"/>
                    <a:pt x="9536303" y="308229"/>
                  </a:cubicBezTo>
                  <a:lnTo>
                    <a:pt x="9536303" y="1541018"/>
                  </a:lnTo>
                  <a:cubicBezTo>
                    <a:pt x="9536303" y="1711198"/>
                    <a:pt x="9398254" y="1849247"/>
                    <a:pt x="9228074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EEF4FC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5829205" y="6069511"/>
            <a:ext cx="6735385" cy="1118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REVIEW → EDIT → EXPORT</a:t>
            </a:r>
          </a:p>
        </p:txBody>
      </p:sp>
      <p:sp>
        <p:nvSpPr>
          <p:cNvPr name="AutoShape 22" id="22"/>
          <p:cNvSpPr/>
          <p:nvPr/>
        </p:nvSpPr>
        <p:spPr>
          <a:xfrm rot="9274620">
            <a:off x="10779966" y="5172313"/>
            <a:ext cx="3765861" cy="0"/>
          </a:xfrm>
          <a:prstGeom prst="line">
            <a:avLst/>
          </a:prstGeom>
          <a:ln cap="rnd" w="19050">
            <a:solidFill>
              <a:srgbClr val="366FC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640062" y="7817082"/>
            <a:ext cx="15113698" cy="1386973"/>
            <a:chOff x="0" y="0"/>
            <a:chExt cx="20151598" cy="184929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151598" cy="1849247"/>
            </a:xfrm>
            <a:custGeom>
              <a:avLst/>
              <a:gdLst/>
              <a:ahLst/>
              <a:cxnLst/>
              <a:rect r="r" b="b" t="t" l="l"/>
              <a:pathLst>
                <a:path h="1849247" w="20151598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19843369" y="0"/>
                  </a:lnTo>
                  <a:cubicBezTo>
                    <a:pt x="20013549" y="0"/>
                    <a:pt x="20151598" y="138049"/>
                    <a:pt x="20151598" y="308229"/>
                  </a:cubicBezTo>
                  <a:lnTo>
                    <a:pt x="20151598" y="1541018"/>
                  </a:lnTo>
                  <a:cubicBezTo>
                    <a:pt x="20151598" y="1711198"/>
                    <a:pt x="20013549" y="1849247"/>
                    <a:pt x="1984336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647206" y="7824235"/>
            <a:ext cx="109814" cy="1372676"/>
            <a:chOff x="0" y="0"/>
            <a:chExt cx="146418" cy="183023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431" cy="1830197"/>
            </a:xfrm>
            <a:custGeom>
              <a:avLst/>
              <a:gdLst/>
              <a:ahLst/>
              <a:cxnLst/>
              <a:rect r="r" b="b" t="t" l="l"/>
              <a:pathLst>
                <a:path h="1830197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2081813" y="8032432"/>
            <a:ext cx="14298816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Core concept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81813" y="8682914"/>
            <a:ext cx="14298816" cy="289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The system assists with drafting; users should review generated content and seek qualified legal advice when appropriate.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426244" y="9694488"/>
            <a:ext cx="640728" cy="21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6411" y="344348"/>
            <a:ext cx="12033904" cy="749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 Working Process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7587" y="1188120"/>
            <a:ext cx="13269306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From user information to a document draft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10552" y="3218631"/>
            <a:ext cx="2759640" cy="1592875"/>
            <a:chOff x="0" y="0"/>
            <a:chExt cx="3679520" cy="21238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79444" cy="2123821"/>
            </a:xfrm>
            <a:custGeom>
              <a:avLst/>
              <a:gdLst/>
              <a:ahLst/>
              <a:cxnLst/>
              <a:rect r="r" b="b" t="t" l="l"/>
              <a:pathLst>
                <a:path h="2123821" w="3679444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3325495" y="0"/>
                  </a:lnTo>
                  <a:cubicBezTo>
                    <a:pt x="3520948" y="0"/>
                    <a:pt x="3679444" y="158496"/>
                    <a:pt x="3679444" y="353949"/>
                  </a:cubicBezTo>
                  <a:lnTo>
                    <a:pt x="3679444" y="1769872"/>
                  </a:lnTo>
                  <a:cubicBezTo>
                    <a:pt x="3679444" y="1965325"/>
                    <a:pt x="3520948" y="2123821"/>
                    <a:pt x="3325495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818960" y="3333693"/>
            <a:ext cx="2342836" cy="1315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Enter details</a:t>
            </a:r>
          </a:p>
        </p:txBody>
      </p:sp>
      <p:sp>
        <p:nvSpPr>
          <p:cNvPr name="AutoShape 7" id="7"/>
          <p:cNvSpPr/>
          <p:nvPr/>
        </p:nvSpPr>
        <p:spPr>
          <a:xfrm rot="165120">
            <a:off x="3343523" y="3998681"/>
            <a:ext cx="794014" cy="0"/>
          </a:xfrm>
          <a:prstGeom prst="line">
            <a:avLst/>
          </a:prstGeom>
          <a:ln cap="rnd" w="19050">
            <a:solidFill>
              <a:srgbClr val="366FC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110866" y="3218631"/>
            <a:ext cx="2759640" cy="1592875"/>
            <a:chOff x="0" y="0"/>
            <a:chExt cx="3679520" cy="21238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79444" cy="2123821"/>
            </a:xfrm>
            <a:custGeom>
              <a:avLst/>
              <a:gdLst/>
              <a:ahLst/>
              <a:cxnLst/>
              <a:rect r="r" b="b" t="t" l="l"/>
              <a:pathLst>
                <a:path h="2123821" w="3679444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3325495" y="0"/>
                  </a:lnTo>
                  <a:cubicBezTo>
                    <a:pt x="3520948" y="0"/>
                    <a:pt x="3679444" y="158496"/>
                    <a:pt x="3679444" y="353949"/>
                  </a:cubicBezTo>
                  <a:lnTo>
                    <a:pt x="3679444" y="1769872"/>
                  </a:lnTo>
                  <a:cubicBezTo>
                    <a:pt x="3679444" y="1965325"/>
                    <a:pt x="3520948" y="2123821"/>
                    <a:pt x="3325495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4319273" y="3333693"/>
            <a:ext cx="2342836" cy="1315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</a:t>
            </a:r>
          </a:p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Analyze input</a:t>
            </a:r>
          </a:p>
        </p:txBody>
      </p:sp>
      <p:sp>
        <p:nvSpPr>
          <p:cNvPr name="AutoShape 11" id="11"/>
          <p:cNvSpPr/>
          <p:nvPr/>
        </p:nvSpPr>
        <p:spPr>
          <a:xfrm rot="165120">
            <a:off x="6843836" y="3998681"/>
            <a:ext cx="794014" cy="0"/>
          </a:xfrm>
          <a:prstGeom prst="line">
            <a:avLst/>
          </a:prstGeom>
          <a:ln cap="rnd" w="19050">
            <a:solidFill>
              <a:srgbClr val="366FC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7611180" y="3218631"/>
            <a:ext cx="2759640" cy="1592875"/>
            <a:chOff x="0" y="0"/>
            <a:chExt cx="3679520" cy="21238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679444" cy="2123821"/>
            </a:xfrm>
            <a:custGeom>
              <a:avLst/>
              <a:gdLst/>
              <a:ahLst/>
              <a:cxnLst/>
              <a:rect r="r" b="b" t="t" l="l"/>
              <a:pathLst>
                <a:path h="2123821" w="3679444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3325495" y="0"/>
                  </a:lnTo>
                  <a:cubicBezTo>
                    <a:pt x="3520948" y="0"/>
                    <a:pt x="3679444" y="158496"/>
                    <a:pt x="3679444" y="353949"/>
                  </a:cubicBezTo>
                  <a:lnTo>
                    <a:pt x="3679444" y="1769872"/>
                  </a:lnTo>
                  <a:cubicBezTo>
                    <a:pt x="3679444" y="1965325"/>
                    <a:pt x="3520948" y="2123821"/>
                    <a:pt x="3325495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7819587" y="3333693"/>
            <a:ext cx="2342836" cy="1315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</a:t>
            </a:r>
          </a:p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Select structure</a:t>
            </a:r>
          </a:p>
        </p:txBody>
      </p:sp>
      <p:sp>
        <p:nvSpPr>
          <p:cNvPr name="AutoShape 15" id="15"/>
          <p:cNvSpPr/>
          <p:nvPr/>
        </p:nvSpPr>
        <p:spPr>
          <a:xfrm rot="165120">
            <a:off x="10344150" y="3998681"/>
            <a:ext cx="794014" cy="0"/>
          </a:xfrm>
          <a:prstGeom prst="line">
            <a:avLst/>
          </a:prstGeom>
          <a:ln cap="rnd" w="19050">
            <a:solidFill>
              <a:srgbClr val="366FC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1111494" y="3218631"/>
            <a:ext cx="2759640" cy="1592875"/>
            <a:chOff x="0" y="0"/>
            <a:chExt cx="3679520" cy="21238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79444" cy="2123821"/>
            </a:xfrm>
            <a:custGeom>
              <a:avLst/>
              <a:gdLst/>
              <a:ahLst/>
              <a:cxnLst/>
              <a:rect r="r" b="b" t="t" l="l"/>
              <a:pathLst>
                <a:path h="2123821" w="3679444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3325495" y="0"/>
                  </a:lnTo>
                  <a:cubicBezTo>
                    <a:pt x="3520948" y="0"/>
                    <a:pt x="3679444" y="158496"/>
                    <a:pt x="3679444" y="353949"/>
                  </a:cubicBezTo>
                  <a:lnTo>
                    <a:pt x="3679444" y="1769872"/>
                  </a:lnTo>
                  <a:cubicBezTo>
                    <a:pt x="3679444" y="1965325"/>
                    <a:pt x="3520948" y="2123821"/>
                    <a:pt x="3325495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1319901" y="3333693"/>
            <a:ext cx="2342836" cy="1315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</a:t>
            </a:r>
          </a:p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Generate draft</a:t>
            </a:r>
          </a:p>
        </p:txBody>
      </p:sp>
      <p:sp>
        <p:nvSpPr>
          <p:cNvPr name="AutoShape 19" id="19"/>
          <p:cNvSpPr/>
          <p:nvPr/>
        </p:nvSpPr>
        <p:spPr>
          <a:xfrm rot="165120">
            <a:off x="13844464" y="3998681"/>
            <a:ext cx="794014" cy="0"/>
          </a:xfrm>
          <a:prstGeom prst="line">
            <a:avLst/>
          </a:prstGeom>
          <a:ln cap="rnd" w="19050">
            <a:solidFill>
              <a:srgbClr val="366FC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4611807" y="3218631"/>
            <a:ext cx="2759640" cy="1592875"/>
            <a:chOff x="0" y="0"/>
            <a:chExt cx="3679520" cy="21238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79444" cy="2123821"/>
            </a:xfrm>
            <a:custGeom>
              <a:avLst/>
              <a:gdLst/>
              <a:ahLst/>
              <a:cxnLst/>
              <a:rect r="r" b="b" t="t" l="l"/>
              <a:pathLst>
                <a:path h="2123821" w="3679444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3325495" y="0"/>
                  </a:lnTo>
                  <a:cubicBezTo>
                    <a:pt x="3520948" y="0"/>
                    <a:pt x="3679444" y="158496"/>
                    <a:pt x="3679444" y="353949"/>
                  </a:cubicBezTo>
                  <a:lnTo>
                    <a:pt x="3679444" y="1769872"/>
                  </a:lnTo>
                  <a:cubicBezTo>
                    <a:pt x="3679444" y="1965325"/>
                    <a:pt x="3520948" y="2123821"/>
                    <a:pt x="3325495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4820214" y="3333693"/>
            <a:ext cx="2342836" cy="1315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</a:t>
            </a:r>
          </a:p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Review &amp; export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875464" y="6238513"/>
            <a:ext cx="12642885" cy="1730140"/>
            <a:chOff x="0" y="0"/>
            <a:chExt cx="16857180" cy="230685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857092" cy="2306828"/>
            </a:xfrm>
            <a:custGeom>
              <a:avLst/>
              <a:gdLst/>
              <a:ahLst/>
              <a:cxnLst/>
              <a:rect r="r" b="b" t="t" l="l"/>
              <a:pathLst>
                <a:path h="2306828" w="16857092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16472663" y="0"/>
                  </a:lnTo>
                  <a:cubicBezTo>
                    <a:pt x="16685006" y="0"/>
                    <a:pt x="16857092" y="172085"/>
                    <a:pt x="16857092" y="384429"/>
                  </a:cubicBezTo>
                  <a:lnTo>
                    <a:pt x="16857092" y="1922399"/>
                  </a:lnTo>
                  <a:cubicBezTo>
                    <a:pt x="16857092" y="2134743"/>
                    <a:pt x="16685006" y="2306828"/>
                    <a:pt x="16472663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2882608" y="6245657"/>
            <a:ext cx="109814" cy="1715843"/>
            <a:chOff x="0" y="0"/>
            <a:chExt cx="146418" cy="228779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431" cy="2287778"/>
            </a:xfrm>
            <a:custGeom>
              <a:avLst/>
              <a:gdLst/>
              <a:ahLst/>
              <a:cxnLst/>
              <a:rect r="r" b="b" t="t" l="l"/>
              <a:pathLst>
                <a:path h="2287778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3317224" y="6453854"/>
            <a:ext cx="11828002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Output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317224" y="7104336"/>
            <a:ext cx="11828002" cy="63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A structured, editable legal document draft based on the information supplied by the user.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426244" y="9694488"/>
            <a:ext cx="640728" cy="21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6411" y="344348"/>
            <a:ext cx="12033904" cy="749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5. Key Features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7587" y="1188120"/>
            <a:ext cx="13269306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Main capabilities of LegalEase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85092" y="1983229"/>
            <a:ext cx="5161817" cy="2485111"/>
            <a:chOff x="0" y="0"/>
            <a:chExt cx="6882422" cy="33134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82384" cy="3313430"/>
            </a:xfrm>
            <a:custGeom>
              <a:avLst/>
              <a:gdLst/>
              <a:ahLst/>
              <a:cxnLst/>
              <a:rect r="r" b="b" t="t" l="l"/>
              <a:pathLst>
                <a:path h="3313430" w="6882384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330188" y="0"/>
                  </a:lnTo>
                  <a:cubicBezTo>
                    <a:pt x="6635242" y="0"/>
                    <a:pt x="6882384" y="247269"/>
                    <a:pt x="6882384" y="552196"/>
                  </a:cubicBezTo>
                  <a:lnTo>
                    <a:pt x="6882384" y="2761234"/>
                  </a:lnTo>
                  <a:cubicBezTo>
                    <a:pt x="6882384" y="3066288"/>
                    <a:pt x="6635115" y="3313430"/>
                    <a:pt x="6330188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92235" y="1990373"/>
            <a:ext cx="109814" cy="2470814"/>
            <a:chOff x="0" y="0"/>
            <a:chExt cx="146418" cy="32944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31" cy="3294380"/>
            </a:xfrm>
            <a:custGeom>
              <a:avLst/>
              <a:gdLst/>
              <a:ahLst/>
              <a:cxnLst/>
              <a:rect r="r" b="b" t="t" l="l"/>
              <a:pathLst>
                <a:path h="3294380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26842" y="2198570"/>
            <a:ext cx="4346943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document generation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6842" y="2849051"/>
            <a:ext cx="4346943" cy="138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Creates a draft from user inputs.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650307" y="1983229"/>
            <a:ext cx="5161817" cy="2485111"/>
            <a:chOff x="0" y="0"/>
            <a:chExt cx="6882422" cy="33134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82384" cy="3313430"/>
            </a:xfrm>
            <a:custGeom>
              <a:avLst/>
              <a:gdLst/>
              <a:ahLst/>
              <a:cxnLst/>
              <a:rect r="r" b="b" t="t" l="l"/>
              <a:pathLst>
                <a:path h="3313430" w="6882384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330188" y="0"/>
                  </a:lnTo>
                  <a:cubicBezTo>
                    <a:pt x="6635242" y="0"/>
                    <a:pt x="6882384" y="247269"/>
                    <a:pt x="6882384" y="552196"/>
                  </a:cubicBezTo>
                  <a:lnTo>
                    <a:pt x="6882384" y="2761234"/>
                  </a:lnTo>
                  <a:cubicBezTo>
                    <a:pt x="6882384" y="3066288"/>
                    <a:pt x="6635115" y="3313430"/>
                    <a:pt x="6330188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6657461" y="1990373"/>
            <a:ext cx="109814" cy="2470814"/>
            <a:chOff x="0" y="0"/>
            <a:chExt cx="146418" cy="32944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431" cy="3294380"/>
            </a:xfrm>
            <a:custGeom>
              <a:avLst/>
              <a:gdLst/>
              <a:ahLst/>
              <a:cxnLst/>
              <a:rect r="r" b="b" t="t" l="l"/>
              <a:pathLst>
                <a:path h="3294380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269D91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092067" y="2198570"/>
            <a:ext cx="4346943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Templates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92067" y="2849051"/>
            <a:ext cx="4346943" cy="138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Supports different document types.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415533" y="1983229"/>
            <a:ext cx="5161817" cy="2485111"/>
            <a:chOff x="0" y="0"/>
            <a:chExt cx="6882422" cy="331348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82384" cy="3313430"/>
            </a:xfrm>
            <a:custGeom>
              <a:avLst/>
              <a:gdLst/>
              <a:ahLst/>
              <a:cxnLst/>
              <a:rect r="r" b="b" t="t" l="l"/>
              <a:pathLst>
                <a:path h="3313430" w="6882384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330188" y="0"/>
                  </a:lnTo>
                  <a:cubicBezTo>
                    <a:pt x="6635242" y="0"/>
                    <a:pt x="6882384" y="247269"/>
                    <a:pt x="6882384" y="552196"/>
                  </a:cubicBezTo>
                  <a:lnTo>
                    <a:pt x="6882384" y="2761234"/>
                  </a:lnTo>
                  <a:cubicBezTo>
                    <a:pt x="6882384" y="3066288"/>
                    <a:pt x="6635115" y="3313430"/>
                    <a:pt x="6330188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422686" y="1990373"/>
            <a:ext cx="109814" cy="2470814"/>
            <a:chOff x="0" y="0"/>
            <a:chExt cx="146418" cy="329441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431" cy="3294380"/>
            </a:xfrm>
            <a:custGeom>
              <a:avLst/>
              <a:gdLst/>
              <a:ahLst/>
              <a:cxnLst/>
              <a:rect r="r" b="b" t="t" l="l"/>
              <a:pathLst>
                <a:path h="3294380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162D4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857293" y="2198570"/>
            <a:ext cx="4346943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Easy editing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57293" y="2849051"/>
            <a:ext cx="4346943" cy="138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Allows users to review and modify text.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85092" y="5071739"/>
            <a:ext cx="5161817" cy="2485111"/>
            <a:chOff x="0" y="0"/>
            <a:chExt cx="6882422" cy="331348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82384" cy="3313430"/>
            </a:xfrm>
            <a:custGeom>
              <a:avLst/>
              <a:gdLst/>
              <a:ahLst/>
              <a:cxnLst/>
              <a:rect r="r" b="b" t="t" l="l"/>
              <a:pathLst>
                <a:path h="3313430" w="6882384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330188" y="0"/>
                  </a:lnTo>
                  <a:cubicBezTo>
                    <a:pt x="6635242" y="0"/>
                    <a:pt x="6882384" y="247269"/>
                    <a:pt x="6882384" y="552196"/>
                  </a:cubicBezTo>
                  <a:lnTo>
                    <a:pt x="6882384" y="2761234"/>
                  </a:lnTo>
                  <a:cubicBezTo>
                    <a:pt x="6882384" y="3066288"/>
                    <a:pt x="6635115" y="3313430"/>
                    <a:pt x="6330188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2235" y="5078892"/>
            <a:ext cx="109814" cy="2470814"/>
            <a:chOff x="0" y="0"/>
            <a:chExt cx="146418" cy="329441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31" cy="3294380"/>
            </a:xfrm>
            <a:custGeom>
              <a:avLst/>
              <a:gdLst/>
              <a:ahLst/>
              <a:cxnLst/>
              <a:rect r="r" b="b" t="t" l="l"/>
              <a:pathLst>
                <a:path h="3294380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326842" y="5287089"/>
            <a:ext cx="4346943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Export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26842" y="5937561"/>
            <a:ext cx="4346943" cy="138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Can produce a printable/downloadable document.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650307" y="5071739"/>
            <a:ext cx="5161817" cy="2485111"/>
            <a:chOff x="0" y="0"/>
            <a:chExt cx="6882422" cy="331348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82384" cy="3313430"/>
            </a:xfrm>
            <a:custGeom>
              <a:avLst/>
              <a:gdLst/>
              <a:ahLst/>
              <a:cxnLst/>
              <a:rect r="r" b="b" t="t" l="l"/>
              <a:pathLst>
                <a:path h="3313430" w="6882384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330188" y="0"/>
                  </a:lnTo>
                  <a:cubicBezTo>
                    <a:pt x="6635242" y="0"/>
                    <a:pt x="6882384" y="247269"/>
                    <a:pt x="6882384" y="552196"/>
                  </a:cubicBezTo>
                  <a:lnTo>
                    <a:pt x="6882384" y="2761234"/>
                  </a:lnTo>
                  <a:cubicBezTo>
                    <a:pt x="6882384" y="3066288"/>
                    <a:pt x="6635115" y="3313430"/>
                    <a:pt x="6330188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6657461" y="5078892"/>
            <a:ext cx="109814" cy="2470814"/>
            <a:chOff x="0" y="0"/>
            <a:chExt cx="146418" cy="329441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6431" cy="3294380"/>
            </a:xfrm>
            <a:custGeom>
              <a:avLst/>
              <a:gdLst/>
              <a:ahLst/>
              <a:cxnLst/>
              <a:rect r="r" b="b" t="t" l="l"/>
              <a:pathLst>
                <a:path h="3294380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269D91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7092067" y="5287089"/>
            <a:ext cx="4346943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Secure design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092067" y="5937561"/>
            <a:ext cx="4346943" cy="138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Authentication and data protection can be included.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415533" y="5071739"/>
            <a:ext cx="5161817" cy="2485111"/>
            <a:chOff x="0" y="0"/>
            <a:chExt cx="6882422" cy="331348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82384" cy="3313430"/>
            </a:xfrm>
            <a:custGeom>
              <a:avLst/>
              <a:gdLst/>
              <a:ahLst/>
              <a:cxnLst/>
              <a:rect r="r" b="b" t="t" l="l"/>
              <a:pathLst>
                <a:path h="3313430" w="6882384">
                  <a:moveTo>
                    <a:pt x="0" y="552196"/>
                  </a:moveTo>
                  <a:cubicBezTo>
                    <a:pt x="0" y="247269"/>
                    <a:pt x="247269" y="0"/>
                    <a:pt x="552196" y="0"/>
                  </a:cubicBezTo>
                  <a:lnTo>
                    <a:pt x="6330188" y="0"/>
                  </a:lnTo>
                  <a:cubicBezTo>
                    <a:pt x="6635242" y="0"/>
                    <a:pt x="6882384" y="247269"/>
                    <a:pt x="6882384" y="552196"/>
                  </a:cubicBezTo>
                  <a:lnTo>
                    <a:pt x="6882384" y="2761234"/>
                  </a:lnTo>
                  <a:cubicBezTo>
                    <a:pt x="6882384" y="3066288"/>
                    <a:pt x="6635115" y="3313430"/>
                    <a:pt x="6330188" y="3313430"/>
                  </a:cubicBezTo>
                  <a:lnTo>
                    <a:pt x="552196" y="3313430"/>
                  </a:lnTo>
                  <a:cubicBezTo>
                    <a:pt x="247269" y="3313430"/>
                    <a:pt x="0" y="3066288"/>
                    <a:pt x="0" y="2761234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422686" y="5078892"/>
            <a:ext cx="109814" cy="2470814"/>
            <a:chOff x="0" y="0"/>
            <a:chExt cx="146418" cy="329441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6431" cy="3294380"/>
            </a:xfrm>
            <a:custGeom>
              <a:avLst/>
              <a:gdLst/>
              <a:ahLst/>
              <a:cxnLst/>
              <a:rect r="r" b="b" t="t" l="l"/>
              <a:pathLst>
                <a:path h="3294380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3294380"/>
                  </a:lnTo>
                  <a:lnTo>
                    <a:pt x="0" y="3294380"/>
                  </a:lnTo>
                  <a:close/>
                </a:path>
              </a:pathLst>
            </a:custGeom>
            <a:solidFill>
              <a:srgbClr val="162D4E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2857293" y="5287089"/>
            <a:ext cx="4346943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Simple interface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857293" y="5937561"/>
            <a:ext cx="4346943" cy="1387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Designed for users without technical expertise.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26244" y="9694488"/>
            <a:ext cx="640728" cy="21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6411" y="344348"/>
            <a:ext cx="12033904" cy="749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6. Technology Stack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7587" y="1188120"/>
            <a:ext cx="13269306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Possible implementation technologies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65523" y="1845955"/>
            <a:ext cx="3034179" cy="769268"/>
            <a:chOff x="0" y="0"/>
            <a:chExt cx="4045572" cy="10256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45585" cy="1025652"/>
            </a:xfrm>
            <a:custGeom>
              <a:avLst/>
              <a:gdLst/>
              <a:ahLst/>
              <a:cxnLst/>
              <a:rect r="r" b="b" t="t" l="l"/>
              <a:pathLst>
                <a:path h="1025652" w="4045585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3874643" y="0"/>
                  </a:lnTo>
                  <a:cubicBezTo>
                    <a:pt x="3969004" y="0"/>
                    <a:pt x="4045585" y="76581"/>
                    <a:pt x="4045585" y="170942"/>
                  </a:cubicBezTo>
                  <a:lnTo>
                    <a:pt x="4045585" y="854710"/>
                  </a:lnTo>
                  <a:cubicBezTo>
                    <a:pt x="4045585" y="949071"/>
                    <a:pt x="3969004" y="1025652"/>
                    <a:pt x="3874643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573930" y="1970542"/>
            <a:ext cx="2617375" cy="48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Frontend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728572" y="1845955"/>
            <a:ext cx="10858414" cy="769268"/>
            <a:chOff x="0" y="0"/>
            <a:chExt cx="14477886" cy="1025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477873" cy="1025652"/>
            </a:xfrm>
            <a:custGeom>
              <a:avLst/>
              <a:gdLst/>
              <a:ahLst/>
              <a:cxnLst/>
              <a:rect r="r" b="b" t="t" l="l"/>
              <a:pathLst>
                <a:path h="1025652" w="14477873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14306931" y="0"/>
                  </a:lnTo>
                  <a:cubicBezTo>
                    <a:pt x="14401293" y="0"/>
                    <a:pt x="14477873" y="76581"/>
                    <a:pt x="14477873" y="170942"/>
                  </a:cubicBezTo>
                  <a:lnTo>
                    <a:pt x="14477873" y="854710"/>
                  </a:lnTo>
                  <a:cubicBezTo>
                    <a:pt x="14477873" y="949071"/>
                    <a:pt x="14401293" y="1025652"/>
                    <a:pt x="14306931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EEF4FC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4936969" y="1970542"/>
            <a:ext cx="10441600" cy="48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HTML • CSS • JavaScript / React</a:t>
            </a:r>
          </a:p>
        </p:txBody>
      </p:sp>
      <p:sp>
        <p:nvSpPr>
          <p:cNvPr name="AutoShape 10" id="10"/>
          <p:cNvSpPr/>
          <p:nvPr/>
        </p:nvSpPr>
        <p:spPr>
          <a:xfrm rot="5080260">
            <a:off x="2677354" y="2783862"/>
            <a:ext cx="410528" cy="0"/>
          </a:xfrm>
          <a:prstGeom prst="line">
            <a:avLst/>
          </a:prstGeom>
          <a:ln cap="rnd" w="19050">
            <a:solidFill>
              <a:srgbClr val="366FC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365523" y="2971552"/>
            <a:ext cx="3034179" cy="769268"/>
            <a:chOff x="0" y="0"/>
            <a:chExt cx="4045572" cy="102569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45585" cy="1025652"/>
            </a:xfrm>
            <a:custGeom>
              <a:avLst/>
              <a:gdLst/>
              <a:ahLst/>
              <a:cxnLst/>
              <a:rect r="r" b="b" t="t" l="l"/>
              <a:pathLst>
                <a:path h="1025652" w="4045585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3874643" y="0"/>
                  </a:lnTo>
                  <a:cubicBezTo>
                    <a:pt x="3969004" y="0"/>
                    <a:pt x="4045585" y="76581"/>
                    <a:pt x="4045585" y="170942"/>
                  </a:cubicBezTo>
                  <a:lnTo>
                    <a:pt x="4045585" y="854710"/>
                  </a:lnTo>
                  <a:cubicBezTo>
                    <a:pt x="4045585" y="949071"/>
                    <a:pt x="3969004" y="1025652"/>
                    <a:pt x="3874643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573930" y="3096130"/>
            <a:ext cx="2617375" cy="48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728572" y="2971552"/>
            <a:ext cx="10858414" cy="769268"/>
            <a:chOff x="0" y="0"/>
            <a:chExt cx="14477886" cy="10256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477873" cy="1025652"/>
            </a:xfrm>
            <a:custGeom>
              <a:avLst/>
              <a:gdLst/>
              <a:ahLst/>
              <a:cxnLst/>
              <a:rect r="r" b="b" t="t" l="l"/>
              <a:pathLst>
                <a:path h="1025652" w="14477873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14306931" y="0"/>
                  </a:lnTo>
                  <a:cubicBezTo>
                    <a:pt x="14401293" y="0"/>
                    <a:pt x="14477873" y="76581"/>
                    <a:pt x="14477873" y="170942"/>
                  </a:cubicBezTo>
                  <a:lnTo>
                    <a:pt x="14477873" y="854710"/>
                  </a:lnTo>
                  <a:cubicBezTo>
                    <a:pt x="14477873" y="949071"/>
                    <a:pt x="14401293" y="1025652"/>
                    <a:pt x="14306931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EEF4FC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4936969" y="3096130"/>
            <a:ext cx="10441600" cy="48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Python / Node.js</a:t>
            </a:r>
          </a:p>
        </p:txBody>
      </p:sp>
      <p:sp>
        <p:nvSpPr>
          <p:cNvPr name="AutoShape 17" id="17"/>
          <p:cNvSpPr/>
          <p:nvPr/>
        </p:nvSpPr>
        <p:spPr>
          <a:xfrm rot="5080260">
            <a:off x="2677354" y="3909451"/>
            <a:ext cx="410528" cy="0"/>
          </a:xfrm>
          <a:prstGeom prst="line">
            <a:avLst/>
          </a:prstGeom>
          <a:ln cap="rnd" w="19050">
            <a:solidFill>
              <a:srgbClr val="366FC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365523" y="4097141"/>
            <a:ext cx="3034179" cy="769268"/>
            <a:chOff x="0" y="0"/>
            <a:chExt cx="4045572" cy="102569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45585" cy="1025652"/>
            </a:xfrm>
            <a:custGeom>
              <a:avLst/>
              <a:gdLst/>
              <a:ahLst/>
              <a:cxnLst/>
              <a:rect r="r" b="b" t="t" l="l"/>
              <a:pathLst>
                <a:path h="1025652" w="4045585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3874643" y="0"/>
                  </a:lnTo>
                  <a:cubicBezTo>
                    <a:pt x="3969004" y="0"/>
                    <a:pt x="4045585" y="76581"/>
                    <a:pt x="4045585" y="170942"/>
                  </a:cubicBezTo>
                  <a:lnTo>
                    <a:pt x="4045585" y="854710"/>
                  </a:lnTo>
                  <a:cubicBezTo>
                    <a:pt x="4045585" y="949071"/>
                    <a:pt x="3969004" y="1025652"/>
                    <a:pt x="3874643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573930" y="4221728"/>
            <a:ext cx="2617375" cy="48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Layer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728572" y="4097141"/>
            <a:ext cx="10858414" cy="769268"/>
            <a:chOff x="0" y="0"/>
            <a:chExt cx="14477886" cy="102569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477873" cy="1025652"/>
            </a:xfrm>
            <a:custGeom>
              <a:avLst/>
              <a:gdLst/>
              <a:ahLst/>
              <a:cxnLst/>
              <a:rect r="r" b="b" t="t" l="l"/>
              <a:pathLst>
                <a:path h="1025652" w="14477873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14306931" y="0"/>
                  </a:lnTo>
                  <a:cubicBezTo>
                    <a:pt x="14401293" y="0"/>
                    <a:pt x="14477873" y="76581"/>
                    <a:pt x="14477873" y="170942"/>
                  </a:cubicBezTo>
                  <a:lnTo>
                    <a:pt x="14477873" y="854710"/>
                  </a:lnTo>
                  <a:cubicBezTo>
                    <a:pt x="14477873" y="949071"/>
                    <a:pt x="14401293" y="1025652"/>
                    <a:pt x="14306931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EEF4FC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4936969" y="4221728"/>
            <a:ext cx="10441600" cy="48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NLP + Large Language Model</a:t>
            </a:r>
          </a:p>
        </p:txBody>
      </p:sp>
      <p:sp>
        <p:nvSpPr>
          <p:cNvPr name="AutoShape 24" id="24"/>
          <p:cNvSpPr/>
          <p:nvPr/>
        </p:nvSpPr>
        <p:spPr>
          <a:xfrm rot="5080260">
            <a:off x="2677354" y="5035048"/>
            <a:ext cx="410528" cy="0"/>
          </a:xfrm>
          <a:prstGeom prst="line">
            <a:avLst/>
          </a:prstGeom>
          <a:ln cap="rnd" w="19050">
            <a:solidFill>
              <a:srgbClr val="366FC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365523" y="5222729"/>
            <a:ext cx="3034179" cy="769268"/>
            <a:chOff x="0" y="0"/>
            <a:chExt cx="4045572" cy="10256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045585" cy="1025652"/>
            </a:xfrm>
            <a:custGeom>
              <a:avLst/>
              <a:gdLst/>
              <a:ahLst/>
              <a:cxnLst/>
              <a:rect r="r" b="b" t="t" l="l"/>
              <a:pathLst>
                <a:path h="1025652" w="4045585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3874643" y="0"/>
                  </a:lnTo>
                  <a:cubicBezTo>
                    <a:pt x="3969004" y="0"/>
                    <a:pt x="4045585" y="76581"/>
                    <a:pt x="4045585" y="170942"/>
                  </a:cubicBezTo>
                  <a:lnTo>
                    <a:pt x="4045585" y="854710"/>
                  </a:lnTo>
                  <a:cubicBezTo>
                    <a:pt x="4045585" y="949071"/>
                    <a:pt x="3969004" y="1025652"/>
                    <a:pt x="3874643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573930" y="5347316"/>
            <a:ext cx="2617375" cy="48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Database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4728572" y="5222729"/>
            <a:ext cx="10858414" cy="769268"/>
            <a:chOff x="0" y="0"/>
            <a:chExt cx="14477886" cy="102569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477873" cy="1025652"/>
            </a:xfrm>
            <a:custGeom>
              <a:avLst/>
              <a:gdLst/>
              <a:ahLst/>
              <a:cxnLst/>
              <a:rect r="r" b="b" t="t" l="l"/>
              <a:pathLst>
                <a:path h="1025652" w="14477873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14306931" y="0"/>
                  </a:lnTo>
                  <a:cubicBezTo>
                    <a:pt x="14401293" y="0"/>
                    <a:pt x="14477873" y="76581"/>
                    <a:pt x="14477873" y="170942"/>
                  </a:cubicBezTo>
                  <a:lnTo>
                    <a:pt x="14477873" y="854710"/>
                  </a:lnTo>
                  <a:cubicBezTo>
                    <a:pt x="14477873" y="949071"/>
                    <a:pt x="14401293" y="1025652"/>
                    <a:pt x="14306931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EEF4FC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4936969" y="5347316"/>
            <a:ext cx="10441600" cy="48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MySQL / MongoDB</a:t>
            </a:r>
          </a:p>
        </p:txBody>
      </p:sp>
      <p:sp>
        <p:nvSpPr>
          <p:cNvPr name="AutoShape 31" id="31"/>
          <p:cNvSpPr/>
          <p:nvPr/>
        </p:nvSpPr>
        <p:spPr>
          <a:xfrm rot="5080260">
            <a:off x="2677354" y="6160637"/>
            <a:ext cx="410528" cy="0"/>
          </a:xfrm>
          <a:prstGeom prst="line">
            <a:avLst/>
          </a:prstGeom>
          <a:ln cap="rnd" w="19050">
            <a:solidFill>
              <a:srgbClr val="366FC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365523" y="6348327"/>
            <a:ext cx="3034179" cy="769268"/>
            <a:chOff x="0" y="0"/>
            <a:chExt cx="4045572" cy="102569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045585" cy="1025652"/>
            </a:xfrm>
            <a:custGeom>
              <a:avLst/>
              <a:gdLst/>
              <a:ahLst/>
              <a:cxnLst/>
              <a:rect r="r" b="b" t="t" l="l"/>
              <a:pathLst>
                <a:path h="1025652" w="4045585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3874643" y="0"/>
                  </a:lnTo>
                  <a:cubicBezTo>
                    <a:pt x="3969004" y="0"/>
                    <a:pt x="4045585" y="76581"/>
                    <a:pt x="4045585" y="170942"/>
                  </a:cubicBezTo>
                  <a:lnTo>
                    <a:pt x="4045585" y="854710"/>
                  </a:lnTo>
                  <a:cubicBezTo>
                    <a:pt x="4045585" y="949071"/>
                    <a:pt x="3969004" y="1025652"/>
                    <a:pt x="3874643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573930" y="6472904"/>
            <a:ext cx="2617375" cy="48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Document Output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4728572" y="6348327"/>
            <a:ext cx="10858414" cy="769268"/>
            <a:chOff x="0" y="0"/>
            <a:chExt cx="14477886" cy="10256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477873" cy="1025652"/>
            </a:xfrm>
            <a:custGeom>
              <a:avLst/>
              <a:gdLst/>
              <a:ahLst/>
              <a:cxnLst/>
              <a:rect r="r" b="b" t="t" l="l"/>
              <a:pathLst>
                <a:path h="1025652" w="14477873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14306931" y="0"/>
                  </a:lnTo>
                  <a:cubicBezTo>
                    <a:pt x="14401293" y="0"/>
                    <a:pt x="14477873" y="76581"/>
                    <a:pt x="14477873" y="170942"/>
                  </a:cubicBezTo>
                  <a:lnTo>
                    <a:pt x="14477873" y="854710"/>
                  </a:lnTo>
                  <a:cubicBezTo>
                    <a:pt x="14477873" y="949071"/>
                    <a:pt x="14401293" y="1025652"/>
                    <a:pt x="14306931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EEF4FC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4936969" y="6472904"/>
            <a:ext cx="10441600" cy="48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PDF / DOCX generation</a:t>
            </a:r>
          </a:p>
        </p:txBody>
      </p:sp>
      <p:sp>
        <p:nvSpPr>
          <p:cNvPr name="AutoShape 38" id="38"/>
          <p:cNvSpPr/>
          <p:nvPr/>
        </p:nvSpPr>
        <p:spPr>
          <a:xfrm rot="5080260">
            <a:off x="2677354" y="7286225"/>
            <a:ext cx="410528" cy="0"/>
          </a:xfrm>
          <a:prstGeom prst="line">
            <a:avLst/>
          </a:prstGeom>
          <a:ln cap="rnd" w="19050">
            <a:solidFill>
              <a:srgbClr val="366FC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1365523" y="7473915"/>
            <a:ext cx="3034179" cy="769268"/>
            <a:chOff x="0" y="0"/>
            <a:chExt cx="4045572" cy="102569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045585" cy="1025652"/>
            </a:xfrm>
            <a:custGeom>
              <a:avLst/>
              <a:gdLst/>
              <a:ahLst/>
              <a:cxnLst/>
              <a:rect r="r" b="b" t="t" l="l"/>
              <a:pathLst>
                <a:path h="1025652" w="4045585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3874643" y="0"/>
                  </a:lnTo>
                  <a:cubicBezTo>
                    <a:pt x="3969004" y="0"/>
                    <a:pt x="4045585" y="76581"/>
                    <a:pt x="4045585" y="170942"/>
                  </a:cubicBezTo>
                  <a:lnTo>
                    <a:pt x="4045585" y="854710"/>
                  </a:lnTo>
                  <a:cubicBezTo>
                    <a:pt x="4045585" y="949071"/>
                    <a:pt x="3969004" y="1025652"/>
                    <a:pt x="3874643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1573930" y="7598493"/>
            <a:ext cx="2617375" cy="48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Security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4728572" y="7473915"/>
            <a:ext cx="10858414" cy="769268"/>
            <a:chOff x="0" y="0"/>
            <a:chExt cx="14477886" cy="102569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4477873" cy="1025652"/>
            </a:xfrm>
            <a:custGeom>
              <a:avLst/>
              <a:gdLst/>
              <a:ahLst/>
              <a:cxnLst/>
              <a:rect r="r" b="b" t="t" l="l"/>
              <a:pathLst>
                <a:path h="1025652" w="14477873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14306931" y="0"/>
                  </a:lnTo>
                  <a:cubicBezTo>
                    <a:pt x="14401293" y="0"/>
                    <a:pt x="14477873" y="76581"/>
                    <a:pt x="14477873" y="170942"/>
                  </a:cubicBezTo>
                  <a:lnTo>
                    <a:pt x="14477873" y="854710"/>
                  </a:lnTo>
                  <a:cubicBezTo>
                    <a:pt x="14477873" y="949071"/>
                    <a:pt x="14401293" y="1025652"/>
                    <a:pt x="14306931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EEF4FC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4936969" y="7598493"/>
            <a:ext cx="10441600" cy="48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Authentication + access control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426244" y="9694488"/>
            <a:ext cx="640728" cy="21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6411" y="344348"/>
            <a:ext cx="12033904" cy="749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7. Advantages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7587" y="1188120"/>
            <a:ext cx="13269306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Potential benefits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2356" y="1914592"/>
            <a:ext cx="7632630" cy="1798777"/>
            <a:chOff x="0" y="0"/>
            <a:chExt cx="10176840" cy="23983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76890" cy="2398522"/>
            </a:xfrm>
            <a:custGeom>
              <a:avLst/>
              <a:gdLst/>
              <a:ahLst/>
              <a:cxnLst/>
              <a:rect r="r" b="b" t="t" l="l"/>
              <a:pathLst>
                <a:path h="2398522" w="10176890">
                  <a:moveTo>
                    <a:pt x="0" y="399796"/>
                  </a:moveTo>
                  <a:cubicBezTo>
                    <a:pt x="0" y="178943"/>
                    <a:pt x="178943" y="0"/>
                    <a:pt x="399796" y="0"/>
                  </a:cubicBezTo>
                  <a:lnTo>
                    <a:pt x="9777095" y="0"/>
                  </a:lnTo>
                  <a:cubicBezTo>
                    <a:pt x="9997821" y="0"/>
                    <a:pt x="10176890" y="178943"/>
                    <a:pt x="10176890" y="399796"/>
                  </a:cubicBezTo>
                  <a:lnTo>
                    <a:pt x="10176890" y="1998726"/>
                  </a:lnTo>
                  <a:cubicBezTo>
                    <a:pt x="10176890" y="2219452"/>
                    <a:pt x="9997948" y="2398522"/>
                    <a:pt x="9777095" y="2398522"/>
                  </a:cubicBezTo>
                  <a:lnTo>
                    <a:pt x="399796" y="2398522"/>
                  </a:lnTo>
                  <a:cubicBezTo>
                    <a:pt x="178943" y="2398395"/>
                    <a:pt x="0" y="2219452"/>
                    <a:pt x="0" y="19985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29500" y="1921745"/>
            <a:ext cx="109814" cy="1784471"/>
            <a:chOff x="0" y="0"/>
            <a:chExt cx="146418" cy="23792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31" cy="2379345"/>
            </a:xfrm>
            <a:custGeom>
              <a:avLst/>
              <a:gdLst/>
              <a:ahLst/>
              <a:cxnLst/>
              <a:rect r="r" b="b" t="t" l="l"/>
              <a:pathLst>
                <a:path h="2379345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4116" y="2129933"/>
            <a:ext cx="6817747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Faster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4116" y="2780414"/>
            <a:ext cx="6817747" cy="701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Reduces repetitive drafting work.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464288" y="1914592"/>
            <a:ext cx="7632630" cy="1798777"/>
            <a:chOff x="0" y="0"/>
            <a:chExt cx="10176840" cy="23983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76890" cy="2398522"/>
            </a:xfrm>
            <a:custGeom>
              <a:avLst/>
              <a:gdLst/>
              <a:ahLst/>
              <a:cxnLst/>
              <a:rect r="r" b="b" t="t" l="l"/>
              <a:pathLst>
                <a:path h="2398522" w="10176890">
                  <a:moveTo>
                    <a:pt x="0" y="399796"/>
                  </a:moveTo>
                  <a:cubicBezTo>
                    <a:pt x="0" y="178943"/>
                    <a:pt x="178943" y="0"/>
                    <a:pt x="399796" y="0"/>
                  </a:cubicBezTo>
                  <a:lnTo>
                    <a:pt x="9777095" y="0"/>
                  </a:lnTo>
                  <a:cubicBezTo>
                    <a:pt x="9997821" y="0"/>
                    <a:pt x="10176890" y="178943"/>
                    <a:pt x="10176890" y="399796"/>
                  </a:cubicBezTo>
                  <a:lnTo>
                    <a:pt x="10176890" y="1998726"/>
                  </a:lnTo>
                  <a:cubicBezTo>
                    <a:pt x="10176890" y="2219452"/>
                    <a:pt x="9997948" y="2398522"/>
                    <a:pt x="9777095" y="2398522"/>
                  </a:cubicBezTo>
                  <a:lnTo>
                    <a:pt x="399796" y="2398522"/>
                  </a:lnTo>
                  <a:cubicBezTo>
                    <a:pt x="178943" y="2398395"/>
                    <a:pt x="0" y="2219452"/>
                    <a:pt x="0" y="19985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9471441" y="1921745"/>
            <a:ext cx="109814" cy="1784471"/>
            <a:chOff x="0" y="0"/>
            <a:chExt cx="146418" cy="23792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431" cy="2379345"/>
            </a:xfrm>
            <a:custGeom>
              <a:avLst/>
              <a:gdLst/>
              <a:ahLst/>
              <a:cxnLst/>
              <a:rect r="r" b="b" t="t" l="l"/>
              <a:pathLst>
                <a:path h="2379345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269D91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906048" y="2129933"/>
            <a:ext cx="6817747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Accessible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06048" y="2780414"/>
            <a:ext cx="6817747" cy="701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Makes basic drafting easier to approach.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2356" y="4248131"/>
            <a:ext cx="7632630" cy="1798777"/>
            <a:chOff x="0" y="0"/>
            <a:chExt cx="10176840" cy="23983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176890" cy="2398522"/>
            </a:xfrm>
            <a:custGeom>
              <a:avLst/>
              <a:gdLst/>
              <a:ahLst/>
              <a:cxnLst/>
              <a:rect r="r" b="b" t="t" l="l"/>
              <a:pathLst>
                <a:path h="2398522" w="10176890">
                  <a:moveTo>
                    <a:pt x="0" y="399796"/>
                  </a:moveTo>
                  <a:cubicBezTo>
                    <a:pt x="0" y="178943"/>
                    <a:pt x="178943" y="0"/>
                    <a:pt x="399796" y="0"/>
                  </a:cubicBezTo>
                  <a:lnTo>
                    <a:pt x="9777095" y="0"/>
                  </a:lnTo>
                  <a:cubicBezTo>
                    <a:pt x="9997821" y="0"/>
                    <a:pt x="10176890" y="178943"/>
                    <a:pt x="10176890" y="399796"/>
                  </a:cubicBezTo>
                  <a:lnTo>
                    <a:pt x="10176890" y="1998726"/>
                  </a:lnTo>
                  <a:cubicBezTo>
                    <a:pt x="10176890" y="2219452"/>
                    <a:pt x="9997948" y="2398522"/>
                    <a:pt x="9777095" y="2398522"/>
                  </a:cubicBezTo>
                  <a:lnTo>
                    <a:pt x="399796" y="2398522"/>
                  </a:lnTo>
                  <a:cubicBezTo>
                    <a:pt x="178943" y="2398395"/>
                    <a:pt x="0" y="2219452"/>
                    <a:pt x="0" y="19985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029500" y="4255284"/>
            <a:ext cx="109814" cy="1784471"/>
            <a:chOff x="0" y="0"/>
            <a:chExt cx="146418" cy="23792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431" cy="2379345"/>
            </a:xfrm>
            <a:custGeom>
              <a:avLst/>
              <a:gdLst/>
              <a:ahLst/>
              <a:cxnLst/>
              <a:rect r="r" b="b" t="t" l="l"/>
              <a:pathLst>
                <a:path h="2379345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162D4E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464116" y="4463482"/>
            <a:ext cx="6817747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Consistent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64116" y="5113963"/>
            <a:ext cx="6817747" cy="701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Uses structured templates.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464288" y="4248131"/>
            <a:ext cx="7632630" cy="1798777"/>
            <a:chOff x="0" y="0"/>
            <a:chExt cx="10176840" cy="23983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176890" cy="2398522"/>
            </a:xfrm>
            <a:custGeom>
              <a:avLst/>
              <a:gdLst/>
              <a:ahLst/>
              <a:cxnLst/>
              <a:rect r="r" b="b" t="t" l="l"/>
              <a:pathLst>
                <a:path h="2398522" w="10176890">
                  <a:moveTo>
                    <a:pt x="0" y="399796"/>
                  </a:moveTo>
                  <a:cubicBezTo>
                    <a:pt x="0" y="178943"/>
                    <a:pt x="178943" y="0"/>
                    <a:pt x="399796" y="0"/>
                  </a:cubicBezTo>
                  <a:lnTo>
                    <a:pt x="9777095" y="0"/>
                  </a:lnTo>
                  <a:cubicBezTo>
                    <a:pt x="9997821" y="0"/>
                    <a:pt x="10176890" y="178943"/>
                    <a:pt x="10176890" y="399796"/>
                  </a:cubicBezTo>
                  <a:lnTo>
                    <a:pt x="10176890" y="1998726"/>
                  </a:lnTo>
                  <a:cubicBezTo>
                    <a:pt x="10176890" y="2219452"/>
                    <a:pt x="9997948" y="2398522"/>
                    <a:pt x="9777095" y="2398522"/>
                  </a:cubicBezTo>
                  <a:lnTo>
                    <a:pt x="399796" y="2398522"/>
                  </a:lnTo>
                  <a:cubicBezTo>
                    <a:pt x="178943" y="2398395"/>
                    <a:pt x="0" y="2219452"/>
                    <a:pt x="0" y="19985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471441" y="4255284"/>
            <a:ext cx="109814" cy="1784471"/>
            <a:chOff x="0" y="0"/>
            <a:chExt cx="146418" cy="237929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31" cy="2379345"/>
            </a:xfrm>
            <a:custGeom>
              <a:avLst/>
              <a:gdLst/>
              <a:ahLst/>
              <a:cxnLst/>
              <a:rect r="r" b="b" t="t" l="l"/>
              <a:pathLst>
                <a:path h="2379345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906048" y="4463482"/>
            <a:ext cx="6817747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Convenient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06048" y="5113963"/>
            <a:ext cx="6817747" cy="701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Supports editing and export.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022356" y="6581680"/>
            <a:ext cx="7632630" cy="1798777"/>
            <a:chOff x="0" y="0"/>
            <a:chExt cx="10176840" cy="239837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176890" cy="2398522"/>
            </a:xfrm>
            <a:custGeom>
              <a:avLst/>
              <a:gdLst/>
              <a:ahLst/>
              <a:cxnLst/>
              <a:rect r="r" b="b" t="t" l="l"/>
              <a:pathLst>
                <a:path h="2398522" w="10176890">
                  <a:moveTo>
                    <a:pt x="0" y="399796"/>
                  </a:moveTo>
                  <a:cubicBezTo>
                    <a:pt x="0" y="178943"/>
                    <a:pt x="178943" y="0"/>
                    <a:pt x="399796" y="0"/>
                  </a:cubicBezTo>
                  <a:lnTo>
                    <a:pt x="9777095" y="0"/>
                  </a:lnTo>
                  <a:cubicBezTo>
                    <a:pt x="9997821" y="0"/>
                    <a:pt x="10176890" y="178943"/>
                    <a:pt x="10176890" y="399796"/>
                  </a:cubicBezTo>
                  <a:lnTo>
                    <a:pt x="10176890" y="1998726"/>
                  </a:lnTo>
                  <a:cubicBezTo>
                    <a:pt x="10176890" y="2219452"/>
                    <a:pt x="9997948" y="2398522"/>
                    <a:pt x="9777095" y="2398522"/>
                  </a:cubicBezTo>
                  <a:lnTo>
                    <a:pt x="399796" y="2398522"/>
                  </a:lnTo>
                  <a:cubicBezTo>
                    <a:pt x="178943" y="2398395"/>
                    <a:pt x="0" y="2219452"/>
                    <a:pt x="0" y="19985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29500" y="6588824"/>
            <a:ext cx="109814" cy="1784471"/>
            <a:chOff x="0" y="0"/>
            <a:chExt cx="146418" cy="237929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6431" cy="2379345"/>
            </a:xfrm>
            <a:custGeom>
              <a:avLst/>
              <a:gdLst/>
              <a:ahLst/>
              <a:cxnLst/>
              <a:rect r="r" b="b" t="t" l="l"/>
              <a:pathLst>
                <a:path h="2379345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269D91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464116" y="6797021"/>
            <a:ext cx="6817747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Scalable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64116" y="7447502"/>
            <a:ext cx="6817747" cy="701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New templates can be added.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464288" y="6581680"/>
            <a:ext cx="7632630" cy="1798777"/>
            <a:chOff x="0" y="0"/>
            <a:chExt cx="10176840" cy="239837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176890" cy="2398522"/>
            </a:xfrm>
            <a:custGeom>
              <a:avLst/>
              <a:gdLst/>
              <a:ahLst/>
              <a:cxnLst/>
              <a:rect r="r" b="b" t="t" l="l"/>
              <a:pathLst>
                <a:path h="2398522" w="10176890">
                  <a:moveTo>
                    <a:pt x="0" y="399796"/>
                  </a:moveTo>
                  <a:cubicBezTo>
                    <a:pt x="0" y="178943"/>
                    <a:pt x="178943" y="0"/>
                    <a:pt x="399796" y="0"/>
                  </a:cubicBezTo>
                  <a:lnTo>
                    <a:pt x="9777095" y="0"/>
                  </a:lnTo>
                  <a:cubicBezTo>
                    <a:pt x="9997821" y="0"/>
                    <a:pt x="10176890" y="178943"/>
                    <a:pt x="10176890" y="399796"/>
                  </a:cubicBezTo>
                  <a:lnTo>
                    <a:pt x="10176890" y="1998726"/>
                  </a:lnTo>
                  <a:cubicBezTo>
                    <a:pt x="10176890" y="2219452"/>
                    <a:pt x="9997948" y="2398522"/>
                    <a:pt x="9777095" y="2398522"/>
                  </a:cubicBezTo>
                  <a:lnTo>
                    <a:pt x="399796" y="2398522"/>
                  </a:lnTo>
                  <a:cubicBezTo>
                    <a:pt x="178943" y="2398395"/>
                    <a:pt x="0" y="2219452"/>
                    <a:pt x="0" y="19985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471441" y="6588824"/>
            <a:ext cx="109814" cy="1784471"/>
            <a:chOff x="0" y="0"/>
            <a:chExt cx="146418" cy="237929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6431" cy="2379345"/>
            </a:xfrm>
            <a:custGeom>
              <a:avLst/>
              <a:gdLst/>
              <a:ahLst/>
              <a:cxnLst/>
              <a:rect r="r" b="b" t="t" l="l"/>
              <a:pathLst>
                <a:path h="2379345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379345"/>
                  </a:lnTo>
                  <a:lnTo>
                    <a:pt x="0" y="2379345"/>
                  </a:lnTo>
                  <a:close/>
                </a:path>
              </a:pathLst>
            </a:custGeom>
            <a:solidFill>
              <a:srgbClr val="162D4E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9906048" y="6797021"/>
            <a:ext cx="6817747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Assistive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906048" y="7447502"/>
            <a:ext cx="6817747" cy="701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Provides a starting draft for review.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4454033" y="8709317"/>
            <a:ext cx="9348473" cy="769268"/>
            <a:chOff x="0" y="0"/>
            <a:chExt cx="12464631" cy="102569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464669" cy="1025652"/>
            </a:xfrm>
            <a:custGeom>
              <a:avLst/>
              <a:gdLst/>
              <a:ahLst/>
              <a:cxnLst/>
              <a:rect r="r" b="b" t="t" l="l"/>
              <a:pathLst>
                <a:path h="1025652" w="12464669">
                  <a:moveTo>
                    <a:pt x="0" y="170942"/>
                  </a:moveTo>
                  <a:cubicBezTo>
                    <a:pt x="0" y="76581"/>
                    <a:pt x="76581" y="0"/>
                    <a:pt x="170942" y="0"/>
                  </a:cubicBezTo>
                  <a:lnTo>
                    <a:pt x="12293727" y="0"/>
                  </a:lnTo>
                  <a:cubicBezTo>
                    <a:pt x="12388088" y="0"/>
                    <a:pt x="12464669" y="76581"/>
                    <a:pt x="12464669" y="170942"/>
                  </a:cubicBezTo>
                  <a:lnTo>
                    <a:pt x="12464669" y="854710"/>
                  </a:lnTo>
                  <a:cubicBezTo>
                    <a:pt x="12464669" y="949071"/>
                    <a:pt x="12388088" y="1025652"/>
                    <a:pt x="12293727" y="1025652"/>
                  </a:cubicBezTo>
                  <a:lnTo>
                    <a:pt x="170942" y="1025652"/>
                  </a:lnTo>
                  <a:cubicBezTo>
                    <a:pt x="76581" y="1025652"/>
                    <a:pt x="0" y="949198"/>
                    <a:pt x="0" y="854710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4662440" y="8833904"/>
            <a:ext cx="8931669" cy="482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ASSISTS — HUMAN REVIEW REMAINS IMPORTANT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426244" y="9694488"/>
            <a:ext cx="640728" cy="21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6411" y="344348"/>
            <a:ext cx="12033904" cy="749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8. Future Scope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7587" y="1188120"/>
            <a:ext cx="13269306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Possible enhancements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16454" y="3287268"/>
            <a:ext cx="2965542" cy="1386973"/>
            <a:chOff x="0" y="0"/>
            <a:chExt cx="3954056" cy="18492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954018" cy="1849247"/>
            </a:xfrm>
            <a:custGeom>
              <a:avLst/>
              <a:gdLst/>
              <a:ahLst/>
              <a:cxnLst/>
              <a:rect r="r" b="b" t="t" l="l"/>
              <a:pathLst>
                <a:path h="1849247" w="3954018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645789" y="0"/>
                  </a:lnTo>
                  <a:cubicBezTo>
                    <a:pt x="3815969" y="0"/>
                    <a:pt x="3954018" y="138049"/>
                    <a:pt x="3954018" y="308229"/>
                  </a:cubicBezTo>
                  <a:lnTo>
                    <a:pt x="3954018" y="1541018"/>
                  </a:lnTo>
                  <a:cubicBezTo>
                    <a:pt x="3954018" y="1711198"/>
                    <a:pt x="3815969" y="1849247"/>
                    <a:pt x="364578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24861" y="3402320"/>
            <a:ext cx="2548738" cy="1109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VOICE</a:t>
            </a:r>
          </a:p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INPUT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385405" y="3287268"/>
            <a:ext cx="2965542" cy="1386973"/>
            <a:chOff x="0" y="0"/>
            <a:chExt cx="3954056" cy="18492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54018" cy="1849247"/>
            </a:xfrm>
            <a:custGeom>
              <a:avLst/>
              <a:gdLst/>
              <a:ahLst/>
              <a:cxnLst/>
              <a:rect r="r" b="b" t="t" l="l"/>
              <a:pathLst>
                <a:path h="1849247" w="3954018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645789" y="0"/>
                  </a:lnTo>
                  <a:cubicBezTo>
                    <a:pt x="3815969" y="0"/>
                    <a:pt x="3954018" y="138049"/>
                    <a:pt x="3954018" y="308229"/>
                  </a:cubicBezTo>
                  <a:lnTo>
                    <a:pt x="3954018" y="1541018"/>
                  </a:lnTo>
                  <a:cubicBezTo>
                    <a:pt x="3954018" y="1711198"/>
                    <a:pt x="3815969" y="1849247"/>
                    <a:pt x="364578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4593803" y="3402320"/>
            <a:ext cx="2548738" cy="1109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MULTI-</a:t>
            </a:r>
          </a:p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LANGUAGE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954347" y="3287268"/>
            <a:ext cx="2965542" cy="1386973"/>
            <a:chOff x="0" y="0"/>
            <a:chExt cx="3954056" cy="18492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54018" cy="1849247"/>
            </a:xfrm>
            <a:custGeom>
              <a:avLst/>
              <a:gdLst/>
              <a:ahLst/>
              <a:cxnLst/>
              <a:rect r="r" b="b" t="t" l="l"/>
              <a:pathLst>
                <a:path h="1849247" w="3954018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645789" y="0"/>
                  </a:lnTo>
                  <a:cubicBezTo>
                    <a:pt x="3815969" y="0"/>
                    <a:pt x="3954018" y="138049"/>
                    <a:pt x="3954018" y="308229"/>
                  </a:cubicBezTo>
                  <a:lnTo>
                    <a:pt x="3954018" y="1541018"/>
                  </a:lnTo>
                  <a:cubicBezTo>
                    <a:pt x="3954018" y="1711198"/>
                    <a:pt x="3815969" y="1849247"/>
                    <a:pt x="364578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8162754" y="3402320"/>
            <a:ext cx="2548738" cy="1109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E-SIGNATURE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523297" y="3287268"/>
            <a:ext cx="2965542" cy="1386973"/>
            <a:chOff x="0" y="0"/>
            <a:chExt cx="3954056" cy="184929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54018" cy="1849247"/>
            </a:xfrm>
            <a:custGeom>
              <a:avLst/>
              <a:gdLst/>
              <a:ahLst/>
              <a:cxnLst/>
              <a:rect r="r" b="b" t="t" l="l"/>
              <a:pathLst>
                <a:path h="1849247" w="3954018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3645789" y="0"/>
                  </a:lnTo>
                  <a:cubicBezTo>
                    <a:pt x="3815969" y="0"/>
                    <a:pt x="3954018" y="138049"/>
                    <a:pt x="3954018" y="308229"/>
                  </a:cubicBezTo>
                  <a:lnTo>
                    <a:pt x="3954018" y="1541018"/>
                  </a:lnTo>
                  <a:cubicBezTo>
                    <a:pt x="3954018" y="1711198"/>
                    <a:pt x="3815969" y="1849247"/>
                    <a:pt x="3645789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1731704" y="3402320"/>
            <a:ext cx="2548738" cy="1109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MOBILE</a:t>
            </a:r>
          </a:p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5092248" y="3287268"/>
            <a:ext cx="2347846" cy="1386973"/>
            <a:chOff x="0" y="0"/>
            <a:chExt cx="3130461" cy="18492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30423" cy="1849247"/>
            </a:xfrm>
            <a:custGeom>
              <a:avLst/>
              <a:gdLst/>
              <a:ahLst/>
              <a:cxnLst/>
              <a:rect r="r" b="b" t="t" l="l"/>
              <a:pathLst>
                <a:path h="1849247" w="3130423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2822194" y="0"/>
                  </a:lnTo>
                  <a:cubicBezTo>
                    <a:pt x="2992374" y="0"/>
                    <a:pt x="3130423" y="138049"/>
                    <a:pt x="3130423" y="308229"/>
                  </a:cubicBezTo>
                  <a:lnTo>
                    <a:pt x="3130423" y="1541018"/>
                  </a:lnTo>
                  <a:cubicBezTo>
                    <a:pt x="3130423" y="1711198"/>
                    <a:pt x="2992374" y="1849247"/>
                    <a:pt x="2822194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5300646" y="3402320"/>
            <a:ext cx="1931032" cy="1109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SMART</a:t>
            </a:r>
          </a:p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CHECK</a:t>
            </a:r>
          </a:p>
        </p:txBody>
      </p:sp>
      <p:sp>
        <p:nvSpPr>
          <p:cNvPr name="AutoShape 19" id="19"/>
          <p:cNvSpPr/>
          <p:nvPr/>
        </p:nvSpPr>
        <p:spPr>
          <a:xfrm rot="199620">
            <a:off x="3755231" y="3971230"/>
            <a:ext cx="656939" cy="0"/>
          </a:xfrm>
          <a:prstGeom prst="line">
            <a:avLst/>
          </a:prstGeom>
          <a:ln cap="rnd" w="19050">
            <a:solidFill>
              <a:srgbClr val="366F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199620">
            <a:off x="7324182" y="3971230"/>
            <a:ext cx="656939" cy="0"/>
          </a:xfrm>
          <a:prstGeom prst="line">
            <a:avLst/>
          </a:prstGeom>
          <a:ln cap="rnd" w="19050">
            <a:solidFill>
              <a:srgbClr val="366F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199620">
            <a:off x="10893123" y="3971230"/>
            <a:ext cx="656939" cy="0"/>
          </a:xfrm>
          <a:prstGeom prst="line">
            <a:avLst/>
          </a:prstGeom>
          <a:ln cap="rnd" w="19050">
            <a:solidFill>
              <a:srgbClr val="366F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199620">
            <a:off x="14462074" y="3971230"/>
            <a:ext cx="656939" cy="0"/>
          </a:xfrm>
          <a:prstGeom prst="line">
            <a:avLst/>
          </a:prstGeom>
          <a:ln cap="rnd" w="19050">
            <a:solidFill>
              <a:srgbClr val="366FC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2738199" y="6238513"/>
            <a:ext cx="13054689" cy="1730140"/>
            <a:chOff x="0" y="0"/>
            <a:chExt cx="17406252" cy="230685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406240" cy="2306828"/>
            </a:xfrm>
            <a:custGeom>
              <a:avLst/>
              <a:gdLst/>
              <a:ahLst/>
              <a:cxnLst/>
              <a:rect r="r" b="b" t="t" l="l"/>
              <a:pathLst>
                <a:path h="2306828" w="17406240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17021811" y="0"/>
                  </a:lnTo>
                  <a:cubicBezTo>
                    <a:pt x="17234154" y="0"/>
                    <a:pt x="17406240" y="172085"/>
                    <a:pt x="17406240" y="384429"/>
                  </a:cubicBezTo>
                  <a:lnTo>
                    <a:pt x="17406240" y="1922399"/>
                  </a:lnTo>
                  <a:cubicBezTo>
                    <a:pt x="17406240" y="2134743"/>
                    <a:pt x="17234154" y="2306828"/>
                    <a:pt x="17021811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2745343" y="6245657"/>
            <a:ext cx="109814" cy="1715843"/>
            <a:chOff x="0" y="0"/>
            <a:chExt cx="146418" cy="228779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431" cy="2287778"/>
            </a:xfrm>
            <a:custGeom>
              <a:avLst/>
              <a:gdLst/>
              <a:ahLst/>
              <a:cxnLst/>
              <a:rect r="r" b="b" t="t" l="l"/>
              <a:pathLst>
                <a:path h="2287778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3179950" y="6453854"/>
            <a:ext cx="12239806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Future vision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179950" y="7104336"/>
            <a:ext cx="12239806" cy="63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Expand supported languages, document types, integrations and validation tools while maintaining privacy and human oversight.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426244" y="9694488"/>
            <a:ext cx="640728" cy="21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6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6411" y="344348"/>
            <a:ext cx="12033904" cy="749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9. 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87587" y="1188120"/>
            <a:ext cx="13269306" cy="495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Summary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90984" y="2120494"/>
            <a:ext cx="7701267" cy="1867405"/>
            <a:chOff x="0" y="0"/>
            <a:chExt cx="10268356" cy="24898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68458" cy="2489962"/>
            </a:xfrm>
            <a:custGeom>
              <a:avLst/>
              <a:gdLst/>
              <a:ahLst/>
              <a:cxnLst/>
              <a:rect r="r" b="b" t="t" l="l"/>
              <a:pathLst>
                <a:path h="2489962" w="10268458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9853422" y="0"/>
                  </a:lnTo>
                  <a:cubicBezTo>
                    <a:pt x="10082657" y="0"/>
                    <a:pt x="10268458" y="185801"/>
                    <a:pt x="10268458" y="415036"/>
                  </a:cubicBezTo>
                  <a:lnTo>
                    <a:pt x="10268458" y="2074926"/>
                  </a:lnTo>
                  <a:cubicBezTo>
                    <a:pt x="10268458" y="2304161"/>
                    <a:pt x="10082657" y="2489962"/>
                    <a:pt x="985342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098137" y="2127647"/>
            <a:ext cx="109814" cy="1853108"/>
            <a:chOff x="0" y="0"/>
            <a:chExt cx="146418" cy="24708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431" cy="2470785"/>
            </a:xfrm>
            <a:custGeom>
              <a:avLst/>
              <a:gdLst/>
              <a:ahLst/>
              <a:cxnLst/>
              <a:rect r="r" b="b" t="t" l="l"/>
              <a:pathLst>
                <a:path h="2470785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32744" y="2335844"/>
            <a:ext cx="6886384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LegalEase does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32744" y="2986316"/>
            <a:ext cx="6886384" cy="77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Uses AI to help transform user-provided information into structured legal document drafts.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90984" y="4454033"/>
            <a:ext cx="7701267" cy="1867405"/>
            <a:chOff x="0" y="0"/>
            <a:chExt cx="10268356" cy="24898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68458" cy="2489962"/>
            </a:xfrm>
            <a:custGeom>
              <a:avLst/>
              <a:gdLst/>
              <a:ahLst/>
              <a:cxnLst/>
              <a:rect r="r" b="b" t="t" l="l"/>
              <a:pathLst>
                <a:path h="2489962" w="10268458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9853422" y="0"/>
                  </a:lnTo>
                  <a:cubicBezTo>
                    <a:pt x="10082657" y="0"/>
                    <a:pt x="10268458" y="185801"/>
                    <a:pt x="10268458" y="415036"/>
                  </a:cubicBezTo>
                  <a:lnTo>
                    <a:pt x="10268458" y="2074926"/>
                  </a:lnTo>
                  <a:cubicBezTo>
                    <a:pt x="10268458" y="2304161"/>
                    <a:pt x="10082657" y="2489962"/>
                    <a:pt x="985342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98137" y="4461186"/>
            <a:ext cx="109814" cy="1853108"/>
            <a:chOff x="0" y="0"/>
            <a:chExt cx="146418" cy="24708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431" cy="2470785"/>
            </a:xfrm>
            <a:custGeom>
              <a:avLst/>
              <a:gdLst/>
              <a:ahLst/>
              <a:cxnLst/>
              <a:rect r="r" b="b" t="t" l="l"/>
              <a:pathLst>
                <a:path h="2470785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32744" y="4669384"/>
            <a:ext cx="6886384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it matters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32744" y="5319865"/>
            <a:ext cx="6886384" cy="77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Can reduce repetitive work and make basic drafting more convenient.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601562" y="2120494"/>
            <a:ext cx="7701267" cy="1867405"/>
            <a:chOff x="0" y="0"/>
            <a:chExt cx="10268356" cy="248987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68458" cy="2489962"/>
            </a:xfrm>
            <a:custGeom>
              <a:avLst/>
              <a:gdLst/>
              <a:ahLst/>
              <a:cxnLst/>
              <a:rect r="r" b="b" t="t" l="l"/>
              <a:pathLst>
                <a:path h="2489962" w="10268458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9853422" y="0"/>
                  </a:lnTo>
                  <a:cubicBezTo>
                    <a:pt x="10082657" y="0"/>
                    <a:pt x="10268458" y="185801"/>
                    <a:pt x="10268458" y="415036"/>
                  </a:cubicBezTo>
                  <a:lnTo>
                    <a:pt x="10268458" y="2074926"/>
                  </a:lnTo>
                  <a:cubicBezTo>
                    <a:pt x="10268458" y="2304161"/>
                    <a:pt x="10082657" y="2489962"/>
                    <a:pt x="985342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608706" y="2127647"/>
            <a:ext cx="109814" cy="1853108"/>
            <a:chOff x="0" y="0"/>
            <a:chExt cx="146418" cy="24708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431" cy="2470785"/>
            </a:xfrm>
            <a:custGeom>
              <a:avLst/>
              <a:gdLst/>
              <a:ahLst/>
              <a:cxnLst/>
              <a:rect r="r" b="b" t="t" l="l"/>
              <a:pathLst>
                <a:path h="2470785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043312" y="2335844"/>
            <a:ext cx="6886384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Human role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43312" y="2986316"/>
            <a:ext cx="6886384" cy="77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Users should review the output for accuracy and context.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601562" y="4454033"/>
            <a:ext cx="7701267" cy="1867405"/>
            <a:chOff x="0" y="0"/>
            <a:chExt cx="10268356" cy="24898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68458" cy="2489962"/>
            </a:xfrm>
            <a:custGeom>
              <a:avLst/>
              <a:gdLst/>
              <a:ahLst/>
              <a:cxnLst/>
              <a:rect r="r" b="b" t="t" l="l"/>
              <a:pathLst>
                <a:path h="2489962" w="10268458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9853422" y="0"/>
                  </a:lnTo>
                  <a:cubicBezTo>
                    <a:pt x="10082657" y="0"/>
                    <a:pt x="10268458" y="185801"/>
                    <a:pt x="10268458" y="415036"/>
                  </a:cubicBezTo>
                  <a:lnTo>
                    <a:pt x="10268458" y="2074926"/>
                  </a:lnTo>
                  <a:cubicBezTo>
                    <a:pt x="10268458" y="2304161"/>
                    <a:pt x="10082657" y="2489962"/>
                    <a:pt x="985342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AE4F2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608706" y="4461186"/>
            <a:ext cx="109814" cy="1853108"/>
            <a:chOff x="0" y="0"/>
            <a:chExt cx="146418" cy="24708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431" cy="2470785"/>
            </a:xfrm>
            <a:custGeom>
              <a:avLst/>
              <a:gdLst/>
              <a:ahLst/>
              <a:cxnLst/>
              <a:rect r="r" b="b" t="t" l="l"/>
              <a:pathLst>
                <a:path h="2470785" w="146431">
                  <a:moveTo>
                    <a:pt x="0" y="0"/>
                  </a:moveTo>
                  <a:lnTo>
                    <a:pt x="146431" y="0"/>
                  </a:lnTo>
                  <a:lnTo>
                    <a:pt x="14643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366FC4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043312" y="4669384"/>
            <a:ext cx="6886384" cy="5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Legal responsibility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43312" y="5319865"/>
            <a:ext cx="6886384" cy="770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For important legal matters, qualified legal advice should be obtained.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4522670" y="7473915"/>
            <a:ext cx="9211208" cy="1112434"/>
            <a:chOff x="0" y="0"/>
            <a:chExt cx="12281611" cy="148324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281662" cy="1483360"/>
            </a:xfrm>
            <a:custGeom>
              <a:avLst/>
              <a:gdLst/>
              <a:ahLst/>
              <a:cxnLst/>
              <a:rect r="r" b="b" t="t" l="l"/>
              <a:pathLst>
                <a:path h="1483360" w="12281662">
                  <a:moveTo>
                    <a:pt x="0" y="247269"/>
                  </a:moveTo>
                  <a:cubicBezTo>
                    <a:pt x="0" y="110744"/>
                    <a:pt x="110744" y="0"/>
                    <a:pt x="247269" y="0"/>
                  </a:cubicBezTo>
                  <a:lnTo>
                    <a:pt x="12034393" y="0"/>
                  </a:lnTo>
                  <a:cubicBezTo>
                    <a:pt x="12170918" y="0"/>
                    <a:pt x="12281662" y="110744"/>
                    <a:pt x="12281662" y="247269"/>
                  </a:cubicBezTo>
                  <a:lnTo>
                    <a:pt x="12281662" y="1236091"/>
                  </a:lnTo>
                  <a:cubicBezTo>
                    <a:pt x="12281662" y="1372616"/>
                    <a:pt x="12170918" y="1483360"/>
                    <a:pt x="12034393" y="1483360"/>
                  </a:cubicBezTo>
                  <a:lnTo>
                    <a:pt x="247269" y="1483360"/>
                  </a:lnTo>
                  <a:cubicBezTo>
                    <a:pt x="110744" y="1483233"/>
                    <a:pt x="0" y="1372616"/>
                    <a:pt x="0" y="1236091"/>
                  </a:cubicBezTo>
                  <a:close/>
                </a:path>
              </a:pathLst>
            </a:custGeom>
            <a:solidFill>
              <a:srgbClr val="E8F6F4"/>
            </a:solidFill>
            <a:ln w="14299" cap="sq">
              <a:solidFill>
                <a:srgbClr val="366FC4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4731077" y="7579452"/>
            <a:ext cx="8794394" cy="844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162D4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LEGALease = AI ASSISTANCE + HUMAN REVIEW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426244" y="9694488"/>
            <a:ext cx="640728" cy="211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525C6C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DAHWGooir6g</dc:identifier>
  <dcterms:modified xsi:type="dcterms:W3CDTF">2011-08-01T06:04:30Z</dcterms:modified>
  <cp:revision>1</cp:revision>
  <dc:title>LegalEase_AI_Legal_Document_Generator_Diagram_PPT.pptx</dc:title>
</cp:coreProperties>
</file>